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Ritvik: Introduce yourselves as Ritvik Saidapur and Siddharth Senthilkumar, presenting Rebound for NC-04. Our goal is to make a clinician-cleared recovery routine easier to understand and follow between appointments. Rebound combines a weekly plan, reminders, guided movement practice, and a personal record. The screen shown here is rendered from our current native components using example data, not a real patient or a clinical result. Do not claim that the prototype speeds healing or replaces a clinician.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Siddharth: Describe a hypothetical person returning from an injury. They may have instructions but still struggle to remember a routine or understand a movement when they are on their own. These three questions explain the design problem we chose. We are not presenting survey findings, measured adherence statistics, or evidence that the app has improved clinical outcomes. The intended audience includes athletes and everyday people following an individually cleared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Ritvik: Walk through the main loop. First, find the next planned routine. Second, use an illustrated movement guide and a camera estimate when the movement is supported. Third, record the session and how the day feels. The website and iPhone client share the app’s saved routines and guided workflows, while the native iPhone home and Coach library have their own presentation. Browser and device storage are separate; this is not automatic cross-device synchronization.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Siddharth: Point to the weekly progress bar above the green recovery-focus card. The example is one of three planned routines complete. A routine earns credit once on its scheduled local date after the run is finished. Extra sets and duplicate saves do not inflate the goal, and dates before a routine was created are excluded. The plan does not demand catch-up exercise on rest days. The reminder shortcut suggests scheduled routine days, but the user still chooses and confirms notification days and time. Existing native reminders are independent and can still alert after completion.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Ritvik: Show the native Coach screen: a routine action first, followed by a searchable movement library. The catalog contains 22 guides; that is not a claim to cover every injury. Sixteen guides reference previously checked NHS instructions, while six examples retain review-pending labels. Supported camera movements ask for two slow practice cycles. Equipment examples include bands and a light dowel, but the app cannot determine resistance, band anchoring, or a safe clinical range. Do not describe the illustrations as validated biomechanical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Siddharth: Explain that the coach runs pose estimation locally on camera frames, then checks movement geometry and timing. Poor visibility, framing, lighting, or detected misalignment can stop counting and show an illustrated cue. The full-screen view includes a counter, pause/exit controls, inactivity pause, and optional set breaks. This slide is a UI test capture with the camera feed omitted; synthetic landmarks opened the correction panel. It is not human accuracy evidence. Nine guides offer experimental estimates across eight motion protocols. The other guides provide mirror/manual counting. Band curls use elbow checks; band rows do not have a validated automatic protocol.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Ritvik: Separate live coaching from recording. Enabling the coach does not automatically save or upload video. The native recorder is a separate action with a review step, and uploads require a configured Clinic service, authentication, and a connected clinician. The current repository includes these workflows, but a live clinical service is not deployed by the prototype update. Symptom follow-up is conservative and rule-based by default. Optional AI explanations need configured services and opt-in; they do not create a diagnostic or injury-specific prescription.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Siddharth: Explain the actual architecture. The mobile home and Coach library are React Native. Detailed guides and Clinic workflows use an origin-restricted WebView connected to the web app. A bridge transfers validated recovery snapshots and explicit actions. MediaPipe estimates pose landmarks, and a rule-based tracker checks geometry, visibility, view, and timing. The app does not load a newly trained exercise-video classifier. Supabase integration is optional and must be deployed and configured. AI assistance: OpenAI Codex helped with implementation and debugging. Be ready to explain the system and describe this assistance honestly; verify current district and challenge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presenters: This slide reserves a 16:9 region for your actual video. In Canva, delete the placeholder elements, upload your recording, place it inside this area, and preview playback. Suggested sequence, not an official duration rule: about 15 seconds on the weekly plan, 35–45 seconds on a supported exercise/camera and correction, then 15–20 seconds saving and viewing progress. Use only individually cleared movements. If footage uses a simulation, label it. Explain tracking limitations and do not claim measured accuracy. Test playback from the actual presenting device, keep an offline backup, and verify the current Congressional App Challenge video instructions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Ritvik: Report the evidence precisely. There are 73 browser cases checked, including the added weekly-goal integration case, plus successful web build, native type-check, and iOS JavaScript export. Those checks include synthetic landmarks and browser streams; they do not establish real-person form accuracy or physical iPhone performance. No new human-video model has been trained or deployed. Dataset permissions and movement mappings remain unresolved. The next steps are qualified human-observer evaluation, physical device checks, and dependable service/hosting setup. Do not call the app clinically validated or fully trained for every exercise.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Siddharth: Close with the intended benefit: a clearer plan and a steadier routine between appointments. Invite questions about the weekly goal, the coach, privacy, or how the prototype was built. Avoid turning the product’s goal into a claim of proven injury recovery improvement. If asked about AI accuracy, explain the current experimental coverage and evaluation plan honestly. Thank the audience on behalf of Ritvik Saidapur and Siddharth Senthilkumar, NC-04.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links: https://github.com/sidsenthilkumar-dev/congressapp/tree/rebound-mvp ; https://github.com/congressionalappchallenge/houseofcode2024/blob/main/frontend/src/assets/CAC-logo.svg ; https://www.nhs.uk/live-well/exercise/sitting-exercises/ ; https://www.nhs.uk/live-well/exercise/strength-exercises/ ; https://www.nhs.uk/live-well/exercise/flexibility-exercises/ ; https://www.nhs.uk/live-well/exercise/balance-exercises/ ; https://chuoling.github.io/mediapipe/solutions/pose.html ; https://docs.expo.dev/ . The CAC website was not accessible from this cloud environment, so this deck does not assert current competition rules or eligibility. Confirm current requirements with the district office. The presenter supplied the names and NC-04; no school, clinician involvement, interviews, patient results, or original student coding claims have been invented. Logos retain their source colors and proportions.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Rounded Rectangle 1"/>
          <p:cNvSpPr/>
          <p:nvPr/>
        </p:nvSpPr>
        <p:spPr>
          <a:xfrm>
            <a:off x="7909560" y="320040"/>
            <a:ext cx="3794760" cy="5806440"/>
          </a:xfrm>
          <a:prstGeom prst="roundRect">
            <a:avLst>
              <a:gd name="adj" fmla="val 8433"/>
            </a:avLst>
          </a:prstGeom>
          <a:solidFill>
            <a:srgbClr val="E8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ebound-icon.png"/>
          <p:cNvPicPr>
            <a:picLocks noChangeAspect="1"/>
          </p:cNvPicPr>
          <p:nvPr/>
        </p:nvPicPr>
        <p:blipFill>
          <a:blip r:embed="rId2"/>
          <a:stretch>
            <a:fillRect/>
          </a:stretch>
        </p:blipFill>
        <p:spPr>
          <a:xfrm>
            <a:off x="685800" y="548640"/>
            <a:ext cx="475488" cy="475488"/>
          </a:xfrm>
          <a:prstGeom prst="rect">
            <a:avLst/>
          </a:prstGeom>
        </p:spPr>
      </p:pic>
      <p:sp>
        <p:nvSpPr>
          <p:cNvPr id="4" name="TextBox 3"/>
          <p:cNvSpPr txBox="1"/>
          <p:nvPr/>
        </p:nvSpPr>
        <p:spPr>
          <a:xfrm>
            <a:off x="1298448" y="502920"/>
            <a:ext cx="4572000" cy="519684"/>
          </a:xfrm>
          <a:prstGeom prst="rect">
            <a:avLst/>
          </a:prstGeom>
          <a:noFill/>
        </p:spPr>
        <p:txBody>
          <a:bodyPr wrap="none" lIns="0" rIns="0" tIns="0" bIns="0">
            <a:spAutoFit/>
          </a:bodyPr>
          <a:lstStyle/>
          <a:p>
            <a:pPr algn="l">
              <a:lnSpc>
                <a:spcPts val="3660"/>
              </a:lnSpc>
              <a:spcBef>
                <a:spcPts val="0"/>
              </a:spcBef>
              <a:spcAft>
                <a:spcPts val="0"/>
              </a:spcAft>
              <a:defRPr sz="3000" b="1">
                <a:solidFill>
                  <a:srgbClr val="213E32"/>
                </a:solidFill>
                <a:latin typeface="Manrope"/>
              </a:defRPr>
            </a:pPr>
            <a:r>
              <a:t>rebound.</a:t>
            </a:r>
          </a:p>
        </p:txBody>
      </p:sp>
      <p:sp>
        <p:nvSpPr>
          <p:cNvPr id="5" name="TextBox 4"/>
          <p:cNvSpPr txBox="1"/>
          <p:nvPr/>
        </p:nvSpPr>
        <p:spPr>
          <a:xfrm>
            <a:off x="704088" y="1481328"/>
            <a:ext cx="64008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CONGRESSIONAL APP CHALLENGE</a:t>
            </a:r>
          </a:p>
        </p:txBody>
      </p:sp>
      <p:sp>
        <p:nvSpPr>
          <p:cNvPr id="6" name="TextBox 5"/>
          <p:cNvSpPr txBox="1"/>
          <p:nvPr/>
        </p:nvSpPr>
        <p:spPr>
          <a:xfrm>
            <a:off x="658368" y="1920240"/>
            <a:ext cx="7315200" cy="1386840"/>
          </a:xfrm>
          <a:prstGeom prst="rect">
            <a:avLst/>
          </a:prstGeom>
          <a:noFill/>
        </p:spPr>
        <p:txBody>
          <a:bodyPr wrap="none" lIns="0" rIns="0" tIns="0" bIns="0">
            <a:spAutoFit/>
          </a:bodyPr>
          <a:lstStyle/>
          <a:p>
            <a:pPr algn="l">
              <a:lnSpc>
                <a:spcPts val="5244"/>
              </a:lnSpc>
              <a:spcBef>
                <a:spcPts val="0"/>
              </a:spcBef>
              <a:spcAft>
                <a:spcPts val="0"/>
              </a:spcAft>
              <a:defRPr sz="4600" b="1">
                <a:solidFill>
                  <a:srgbClr val="213E32"/>
                </a:solidFill>
                <a:latin typeface="Manrope"/>
              </a:defRPr>
            </a:pPr>
            <a:r>
              <a:t>Small steps.</a:t>
            </a:r>
          </a:p>
          <a:p>
            <a:pPr algn="l">
              <a:lnSpc>
                <a:spcPts val="5244"/>
              </a:lnSpc>
              <a:spcBef>
                <a:spcPts val="0"/>
              </a:spcBef>
              <a:spcAft>
                <a:spcPts val="0"/>
              </a:spcAft>
              <a:defRPr sz="4600" b="1">
                <a:solidFill>
                  <a:srgbClr val="213E32"/>
                </a:solidFill>
                <a:latin typeface="Manrope"/>
              </a:defRPr>
            </a:pPr>
            <a:r>
              <a:t>A steadier routine.</a:t>
            </a:r>
          </a:p>
        </p:txBody>
      </p:sp>
      <p:sp>
        <p:nvSpPr>
          <p:cNvPr id="7" name="TextBox 6"/>
          <p:cNvSpPr txBox="1"/>
          <p:nvPr/>
        </p:nvSpPr>
        <p:spPr>
          <a:xfrm>
            <a:off x="713232" y="3602736"/>
            <a:ext cx="6949440" cy="781304"/>
          </a:xfrm>
          <a:prstGeom prst="rect">
            <a:avLst/>
          </a:prstGeom>
          <a:noFill/>
        </p:spPr>
        <p:txBody>
          <a:bodyPr wrap="none" lIns="0" rIns="0" tIns="0" bIns="0">
            <a:spAutoFit/>
          </a:bodyPr>
          <a:lstStyle/>
          <a:p>
            <a:pPr algn="l">
              <a:lnSpc>
                <a:spcPts val="2860"/>
              </a:lnSpc>
              <a:spcBef>
                <a:spcPts val="0"/>
              </a:spcBef>
              <a:spcAft>
                <a:spcPts val="0"/>
              </a:spcAft>
              <a:defRPr sz="2200" b="0">
                <a:solidFill>
                  <a:srgbClr val="71816A"/>
                </a:solidFill>
                <a:latin typeface="DM Sans"/>
              </a:defRPr>
            </a:pPr>
            <a:r>
              <a:t>A recovery companion for athletes</a:t>
            </a:r>
          </a:p>
          <a:p>
            <a:pPr algn="l">
              <a:lnSpc>
                <a:spcPts val="2860"/>
              </a:lnSpc>
              <a:spcBef>
                <a:spcPts val="0"/>
              </a:spcBef>
              <a:spcAft>
                <a:spcPts val="0"/>
              </a:spcAft>
              <a:defRPr sz="2200" b="0">
                <a:solidFill>
                  <a:srgbClr val="71816A"/>
                </a:solidFill>
                <a:latin typeface="DM Sans"/>
              </a:defRPr>
            </a:pPr>
            <a:r>
              <a:t>and everyday people.</a:t>
            </a:r>
          </a:p>
        </p:txBody>
      </p:sp>
      <p:sp>
        <p:nvSpPr>
          <p:cNvPr id="8" name="TextBox 7"/>
          <p:cNvSpPr txBox="1"/>
          <p:nvPr/>
        </p:nvSpPr>
        <p:spPr>
          <a:xfrm>
            <a:off x="722376" y="4681728"/>
            <a:ext cx="6309360" cy="637794"/>
          </a:xfrm>
          <a:prstGeom prst="rect">
            <a:avLst/>
          </a:prstGeom>
          <a:noFill/>
        </p:spPr>
        <p:txBody>
          <a:bodyPr wrap="none" lIns="0" rIns="0" tIns="0" bIns="0">
            <a:spAutoFit/>
          </a:bodyPr>
          <a:lstStyle/>
          <a:p>
            <a:pPr algn="l">
              <a:lnSpc>
                <a:spcPts val="2295"/>
              </a:lnSpc>
              <a:spcBef>
                <a:spcPts val="0"/>
              </a:spcBef>
              <a:spcAft>
                <a:spcPts val="0"/>
              </a:spcAft>
              <a:defRPr sz="1700" b="1">
                <a:solidFill>
                  <a:srgbClr val="213E32"/>
                </a:solidFill>
                <a:latin typeface="DM Sans"/>
              </a:defRPr>
            </a:pPr>
            <a:r>
              <a:t>Ritvik Saidapur</a:t>
            </a:r>
          </a:p>
          <a:p>
            <a:pPr algn="l">
              <a:lnSpc>
                <a:spcPts val="2295"/>
              </a:lnSpc>
              <a:spcBef>
                <a:spcPts val="0"/>
              </a:spcBef>
              <a:spcAft>
                <a:spcPts val="0"/>
              </a:spcAft>
              <a:defRPr sz="1700" b="1">
                <a:solidFill>
                  <a:srgbClr val="213E32"/>
                </a:solidFill>
                <a:latin typeface="DM Sans"/>
              </a:defRPr>
            </a:pPr>
            <a:r>
              <a:t>Siddharth Senthilkumar</a:t>
            </a:r>
          </a:p>
        </p:txBody>
      </p:sp>
      <p:sp>
        <p:nvSpPr>
          <p:cNvPr id="9" name="TextBox 8"/>
          <p:cNvSpPr txBox="1"/>
          <p:nvPr/>
        </p:nvSpPr>
        <p:spPr>
          <a:xfrm>
            <a:off x="722376" y="5504688"/>
            <a:ext cx="6217920" cy="240791"/>
          </a:xfrm>
          <a:prstGeom prst="rect">
            <a:avLst/>
          </a:prstGeom>
          <a:noFill/>
        </p:spPr>
        <p:txBody>
          <a:bodyPr wrap="none" lIns="0" rIns="0" tIns="0" bIns="0">
            <a:spAutoFit/>
          </a:bodyPr>
          <a:lstStyle/>
          <a:p>
            <a:pPr algn="l">
              <a:lnSpc>
                <a:spcPts val="1464"/>
              </a:lnSpc>
              <a:spcBef>
                <a:spcPts val="0"/>
              </a:spcBef>
              <a:spcAft>
                <a:spcPts val="0"/>
              </a:spcAft>
              <a:defRPr sz="1200" b="0">
                <a:solidFill>
                  <a:srgbClr val="71816A"/>
                </a:solidFill>
                <a:latin typeface="DM Sans"/>
              </a:defRPr>
            </a:pPr>
            <a:r>
              <a:t>North Carolina’s 4th District · NC-04</a:t>
            </a:r>
          </a:p>
        </p:txBody>
      </p:sp>
      <p:sp>
        <p:nvSpPr>
          <p:cNvPr id="10" name="Rounded Rectangle 9"/>
          <p:cNvSpPr/>
          <p:nvPr/>
        </p:nvSpPr>
        <p:spPr>
          <a:xfrm>
            <a:off x="6327648" y="4864608"/>
            <a:ext cx="1252728" cy="941832"/>
          </a:xfrm>
          <a:prstGeom prst="roundRect">
            <a:avLst>
              <a:gd name="adj" fmla="val 11650"/>
            </a:avLst>
          </a:prstGeom>
          <a:solidFill>
            <a:srgbClr val="FFFFFF"/>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C-logo.png"/>
          <p:cNvPicPr>
            <a:picLocks noChangeAspect="1"/>
          </p:cNvPicPr>
          <p:nvPr/>
        </p:nvPicPr>
        <p:blipFill>
          <a:blip r:embed="rId3"/>
          <a:stretch>
            <a:fillRect/>
          </a:stretch>
        </p:blipFill>
        <p:spPr>
          <a:xfrm>
            <a:off x="6428232" y="4956048"/>
            <a:ext cx="1051560" cy="749808"/>
          </a:xfrm>
          <a:prstGeom prst="rect">
            <a:avLst/>
          </a:prstGeom>
        </p:spPr>
      </p:pic>
      <p:sp>
        <p:nvSpPr>
          <p:cNvPr id="12" name="Rounded Rectangle 11"/>
          <p:cNvSpPr/>
          <p:nvPr/>
        </p:nvSpPr>
        <p:spPr>
          <a:xfrm>
            <a:off x="8549640" y="448056"/>
            <a:ext cx="2663200" cy="5614416"/>
          </a:xfrm>
          <a:prstGeom prst="roundRect">
            <a:avLst>
              <a:gd name="adj" fmla="val 8583"/>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ative-recovery.png"/>
          <p:cNvPicPr>
            <a:picLocks noChangeAspect="1"/>
          </p:cNvPicPr>
          <p:nvPr/>
        </p:nvPicPr>
        <p:blipFill>
          <a:blip r:embed="rId4"/>
          <a:stretch>
            <a:fillRect/>
          </a:stretch>
        </p:blipFill>
        <p:spPr>
          <a:xfrm>
            <a:off x="8613648" y="512064"/>
            <a:ext cx="2535184" cy="5486400"/>
          </a:xfrm>
          <a:prstGeom prst="rect">
            <a:avLst/>
          </a:prstGeom>
        </p:spPr>
      </p:pic>
      <p:sp>
        <p:nvSpPr>
          <p:cNvPr id="14" name="TextBox 13"/>
          <p:cNvSpPr txBox="1"/>
          <p:nvPr/>
        </p:nvSpPr>
        <p:spPr>
          <a:xfrm>
            <a:off x="8302752" y="6108192"/>
            <a:ext cx="3200400" cy="178815"/>
          </a:xfrm>
          <a:prstGeom prst="rect">
            <a:avLst/>
          </a:prstGeom>
          <a:noFill/>
        </p:spPr>
        <p:txBody>
          <a:bodyPr wrap="none" lIns="0" rIns="0" tIns="0" bIns="0">
            <a:spAutoFit/>
          </a:bodyPr>
          <a:lstStyle/>
          <a:p>
            <a:pPr algn="ctr">
              <a:lnSpc>
                <a:spcPts val="976"/>
              </a:lnSpc>
              <a:spcBef>
                <a:spcPts val="0"/>
              </a:spcBef>
              <a:spcAft>
                <a:spcPts val="0"/>
              </a:spcAft>
              <a:defRPr sz="800" b="0">
                <a:solidFill>
                  <a:srgbClr val="71816A"/>
                </a:solidFill>
                <a:latin typeface="DM Sans"/>
              </a:defRPr>
            </a:pPr>
            <a:r>
              <a:t>Native UI preview · example data</a:t>
            </a:r>
          </a:p>
        </p:txBody>
      </p:sp>
      <p:sp>
        <p:nvSpPr>
          <p:cNvPr id="15" name="Rectangle 14"/>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17" name="TextBox 16"/>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CONGRESSIONAL APP CHALLENGE / NC-04</a:t>
            </a:r>
          </a:p>
        </p:txBody>
      </p:sp>
      <p:sp>
        <p:nvSpPr>
          <p:cNvPr id="18" name="TextBox 17"/>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THE PROBLEM</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Recovery needs more than instructions.</a:t>
            </a:r>
          </a:p>
        </p:txBody>
      </p:sp>
      <p:sp>
        <p:nvSpPr>
          <p:cNvPr id="4" name="TextBox 3"/>
          <p:cNvSpPr txBox="1"/>
          <p:nvPr/>
        </p:nvSpPr>
        <p:spPr>
          <a:xfrm>
            <a:off x="694944" y="1563624"/>
            <a:ext cx="106070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Between appointments, a patient still needs clarity, confidence, and consistency.</a:t>
            </a:r>
          </a:p>
        </p:txBody>
      </p:sp>
      <p:sp>
        <p:nvSpPr>
          <p:cNvPr id="5" name="Rounded Rectangle 4"/>
          <p:cNvSpPr/>
          <p:nvPr/>
        </p:nvSpPr>
        <p:spPr>
          <a:xfrm>
            <a:off x="685800" y="2514600"/>
            <a:ext cx="3465576" cy="2990088"/>
          </a:xfrm>
          <a:prstGeom prst="roundRect">
            <a:avLst>
              <a:gd name="adj" fmla="val 7033"/>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761488"/>
            <a:ext cx="1005840" cy="643635"/>
          </a:xfrm>
          <a:prstGeom prst="rect">
            <a:avLst/>
          </a:prstGeom>
          <a:noFill/>
        </p:spPr>
        <p:txBody>
          <a:bodyPr wrap="none" lIns="0" rIns="0" tIns="0" bIns="0">
            <a:spAutoFit/>
          </a:bodyPr>
          <a:lstStyle/>
          <a:p>
            <a:pPr algn="l">
              <a:lnSpc>
                <a:spcPts val="4636"/>
              </a:lnSpc>
              <a:spcBef>
                <a:spcPts val="0"/>
              </a:spcBef>
              <a:spcAft>
                <a:spcPts val="0"/>
              </a:spcAft>
              <a:defRPr sz="3800" b="0">
                <a:solidFill>
                  <a:srgbClr val="71816A"/>
                </a:solidFill>
                <a:latin typeface="Manrope"/>
              </a:defRPr>
            </a:pPr>
            <a:r>
              <a:t>01</a:t>
            </a:r>
          </a:p>
        </p:txBody>
      </p:sp>
      <p:sp>
        <p:nvSpPr>
          <p:cNvPr id="7" name="TextBox 6"/>
          <p:cNvSpPr txBox="1"/>
          <p:nvPr/>
        </p:nvSpPr>
        <p:spPr>
          <a:xfrm>
            <a:off x="941832" y="3502152"/>
            <a:ext cx="283464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CLARITY</a:t>
            </a:r>
          </a:p>
        </p:txBody>
      </p:sp>
      <p:sp>
        <p:nvSpPr>
          <p:cNvPr id="8" name="TextBox 7"/>
          <p:cNvSpPr txBox="1"/>
          <p:nvPr/>
        </p:nvSpPr>
        <p:spPr>
          <a:xfrm>
            <a:off x="941832" y="3822191"/>
            <a:ext cx="2889504" cy="755904"/>
          </a:xfrm>
          <a:prstGeom prst="rect">
            <a:avLst/>
          </a:prstGeom>
          <a:noFill/>
        </p:spPr>
        <p:txBody>
          <a:bodyPr wrap="none" lIns="0" rIns="0" tIns="0" bIns="0">
            <a:spAutoFit/>
          </a:bodyPr>
          <a:lstStyle/>
          <a:p>
            <a:pPr algn="l">
              <a:lnSpc>
                <a:spcPts val="2760"/>
              </a:lnSpc>
              <a:spcBef>
                <a:spcPts val="0"/>
              </a:spcBef>
              <a:spcAft>
                <a:spcPts val="0"/>
              </a:spcAft>
              <a:defRPr sz="2300" b="1">
                <a:solidFill>
                  <a:srgbClr val="213E32"/>
                </a:solidFill>
                <a:latin typeface="Manrope"/>
              </a:defRPr>
            </a:pPr>
            <a:r>
              <a:t>What is my plan</a:t>
            </a:r>
          </a:p>
          <a:p>
            <a:pPr algn="l">
              <a:lnSpc>
                <a:spcPts val="2760"/>
              </a:lnSpc>
              <a:spcBef>
                <a:spcPts val="0"/>
              </a:spcBef>
              <a:spcAft>
                <a:spcPts val="0"/>
              </a:spcAft>
              <a:defRPr sz="2300" b="1">
                <a:solidFill>
                  <a:srgbClr val="213E32"/>
                </a:solidFill>
                <a:latin typeface="Manrope"/>
              </a:defRPr>
            </a:pPr>
            <a:r>
              <a:t>today?</a:t>
            </a:r>
          </a:p>
        </p:txBody>
      </p:sp>
      <p:sp>
        <p:nvSpPr>
          <p:cNvPr id="9" name="TextBox 8"/>
          <p:cNvSpPr txBox="1"/>
          <p:nvPr/>
        </p:nvSpPr>
        <p:spPr>
          <a:xfrm>
            <a:off x="941832" y="4736592"/>
            <a:ext cx="2889504" cy="550672"/>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A routine should be easy to</a:t>
            </a:r>
          </a:p>
          <a:p>
            <a:pPr algn="l">
              <a:lnSpc>
                <a:spcPts val="1952"/>
              </a:lnSpc>
              <a:spcBef>
                <a:spcPts val="0"/>
              </a:spcBef>
              <a:spcAft>
                <a:spcPts val="0"/>
              </a:spcAft>
              <a:defRPr sz="1600" b="0">
                <a:solidFill>
                  <a:srgbClr val="71816A"/>
                </a:solidFill>
                <a:latin typeface="DM Sans"/>
              </a:defRPr>
            </a:pPr>
            <a:r>
              <a:t>find and understand.</a:t>
            </a:r>
          </a:p>
        </p:txBody>
      </p:sp>
      <p:sp>
        <p:nvSpPr>
          <p:cNvPr id="10" name="Rounded Rectangle 9"/>
          <p:cNvSpPr/>
          <p:nvPr/>
        </p:nvSpPr>
        <p:spPr>
          <a:xfrm>
            <a:off x="4361688" y="2514600"/>
            <a:ext cx="3465576" cy="2990088"/>
          </a:xfrm>
          <a:prstGeom prst="roundRect">
            <a:avLst>
              <a:gd name="adj" fmla="val 7033"/>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5" y="2761488"/>
            <a:ext cx="1005840" cy="643635"/>
          </a:xfrm>
          <a:prstGeom prst="rect">
            <a:avLst/>
          </a:prstGeom>
          <a:noFill/>
        </p:spPr>
        <p:txBody>
          <a:bodyPr wrap="none" lIns="0" rIns="0" tIns="0" bIns="0">
            <a:spAutoFit/>
          </a:bodyPr>
          <a:lstStyle/>
          <a:p>
            <a:pPr algn="l">
              <a:lnSpc>
                <a:spcPts val="4636"/>
              </a:lnSpc>
              <a:spcBef>
                <a:spcPts val="0"/>
              </a:spcBef>
              <a:spcAft>
                <a:spcPts val="0"/>
              </a:spcAft>
              <a:defRPr sz="3800" b="0">
                <a:solidFill>
                  <a:srgbClr val="71816A"/>
                </a:solidFill>
                <a:latin typeface="Manrope"/>
              </a:defRPr>
            </a:pPr>
            <a:r>
              <a:t>02</a:t>
            </a:r>
          </a:p>
        </p:txBody>
      </p:sp>
      <p:sp>
        <p:nvSpPr>
          <p:cNvPr id="12" name="TextBox 11"/>
          <p:cNvSpPr txBox="1"/>
          <p:nvPr/>
        </p:nvSpPr>
        <p:spPr>
          <a:xfrm>
            <a:off x="4617720" y="3502152"/>
            <a:ext cx="283464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CONFIDENCE</a:t>
            </a:r>
          </a:p>
        </p:txBody>
      </p:sp>
      <p:sp>
        <p:nvSpPr>
          <p:cNvPr id="13" name="TextBox 12"/>
          <p:cNvSpPr txBox="1"/>
          <p:nvPr/>
        </p:nvSpPr>
        <p:spPr>
          <a:xfrm>
            <a:off x="4617720" y="3822191"/>
            <a:ext cx="2889504" cy="755904"/>
          </a:xfrm>
          <a:prstGeom prst="rect">
            <a:avLst/>
          </a:prstGeom>
          <a:noFill/>
        </p:spPr>
        <p:txBody>
          <a:bodyPr wrap="none" lIns="0" rIns="0" tIns="0" bIns="0">
            <a:spAutoFit/>
          </a:bodyPr>
          <a:lstStyle/>
          <a:p>
            <a:pPr algn="l">
              <a:lnSpc>
                <a:spcPts val="2760"/>
              </a:lnSpc>
              <a:spcBef>
                <a:spcPts val="0"/>
              </a:spcBef>
              <a:spcAft>
                <a:spcPts val="0"/>
              </a:spcAft>
              <a:defRPr sz="2300" b="1">
                <a:solidFill>
                  <a:srgbClr val="213E32"/>
                </a:solidFill>
                <a:latin typeface="Manrope"/>
              </a:defRPr>
            </a:pPr>
            <a:r>
              <a:t>Am I moving as</a:t>
            </a:r>
          </a:p>
          <a:p>
            <a:pPr algn="l">
              <a:lnSpc>
                <a:spcPts val="2760"/>
              </a:lnSpc>
              <a:spcBef>
                <a:spcPts val="0"/>
              </a:spcBef>
              <a:spcAft>
                <a:spcPts val="0"/>
              </a:spcAft>
              <a:defRPr sz="2300" b="1">
                <a:solidFill>
                  <a:srgbClr val="213E32"/>
                </a:solidFill>
                <a:latin typeface="Manrope"/>
              </a:defRPr>
            </a:pPr>
            <a:r>
              <a:t>intended?</a:t>
            </a:r>
          </a:p>
        </p:txBody>
      </p:sp>
      <p:sp>
        <p:nvSpPr>
          <p:cNvPr id="14" name="TextBox 13"/>
          <p:cNvSpPr txBox="1"/>
          <p:nvPr/>
        </p:nvSpPr>
        <p:spPr>
          <a:xfrm>
            <a:off x="4617720" y="4736592"/>
            <a:ext cx="2889504" cy="550672"/>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Instructions need a useful</a:t>
            </a:r>
          </a:p>
          <a:p>
            <a:pPr algn="l">
              <a:lnSpc>
                <a:spcPts val="1952"/>
              </a:lnSpc>
              <a:spcBef>
                <a:spcPts val="0"/>
              </a:spcBef>
              <a:spcAft>
                <a:spcPts val="0"/>
              </a:spcAft>
              <a:defRPr sz="1600" b="0">
                <a:solidFill>
                  <a:srgbClr val="71816A"/>
                </a:solidFill>
                <a:latin typeface="DM Sans"/>
              </a:defRPr>
            </a:pPr>
            <a:r>
              <a:t>visual reference.</a:t>
            </a:r>
          </a:p>
        </p:txBody>
      </p:sp>
      <p:sp>
        <p:nvSpPr>
          <p:cNvPr id="15" name="Rounded Rectangle 14"/>
          <p:cNvSpPr/>
          <p:nvPr/>
        </p:nvSpPr>
        <p:spPr>
          <a:xfrm>
            <a:off x="8037575" y="2514600"/>
            <a:ext cx="3465576" cy="2990088"/>
          </a:xfrm>
          <a:prstGeom prst="roundRect">
            <a:avLst>
              <a:gd name="adj" fmla="val 7033"/>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3" y="2761488"/>
            <a:ext cx="1005840" cy="643635"/>
          </a:xfrm>
          <a:prstGeom prst="rect">
            <a:avLst/>
          </a:prstGeom>
          <a:noFill/>
        </p:spPr>
        <p:txBody>
          <a:bodyPr wrap="none" lIns="0" rIns="0" tIns="0" bIns="0">
            <a:spAutoFit/>
          </a:bodyPr>
          <a:lstStyle/>
          <a:p>
            <a:pPr algn="l">
              <a:lnSpc>
                <a:spcPts val="4636"/>
              </a:lnSpc>
              <a:spcBef>
                <a:spcPts val="0"/>
              </a:spcBef>
              <a:spcAft>
                <a:spcPts val="0"/>
              </a:spcAft>
              <a:defRPr sz="3800" b="0">
                <a:solidFill>
                  <a:srgbClr val="71816A"/>
                </a:solidFill>
                <a:latin typeface="Manrope"/>
              </a:defRPr>
            </a:pPr>
            <a:r>
              <a:t>03</a:t>
            </a:r>
          </a:p>
        </p:txBody>
      </p:sp>
      <p:sp>
        <p:nvSpPr>
          <p:cNvPr id="17" name="TextBox 16"/>
          <p:cNvSpPr txBox="1"/>
          <p:nvPr/>
        </p:nvSpPr>
        <p:spPr>
          <a:xfrm>
            <a:off x="8293607" y="3502152"/>
            <a:ext cx="283464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CONSISTENCY</a:t>
            </a:r>
          </a:p>
        </p:txBody>
      </p:sp>
      <p:sp>
        <p:nvSpPr>
          <p:cNvPr id="18" name="TextBox 17"/>
          <p:cNvSpPr txBox="1"/>
          <p:nvPr/>
        </p:nvSpPr>
        <p:spPr>
          <a:xfrm>
            <a:off x="8293607" y="3822191"/>
            <a:ext cx="2889504" cy="755904"/>
          </a:xfrm>
          <a:prstGeom prst="rect">
            <a:avLst/>
          </a:prstGeom>
          <a:noFill/>
        </p:spPr>
        <p:txBody>
          <a:bodyPr wrap="none" lIns="0" rIns="0" tIns="0" bIns="0">
            <a:spAutoFit/>
          </a:bodyPr>
          <a:lstStyle/>
          <a:p>
            <a:pPr algn="l">
              <a:lnSpc>
                <a:spcPts val="2760"/>
              </a:lnSpc>
              <a:spcBef>
                <a:spcPts val="0"/>
              </a:spcBef>
              <a:spcAft>
                <a:spcPts val="0"/>
              </a:spcAft>
              <a:defRPr sz="2300" b="1">
                <a:solidFill>
                  <a:srgbClr val="213E32"/>
                </a:solidFill>
                <a:latin typeface="Manrope"/>
              </a:defRPr>
            </a:pPr>
            <a:r>
              <a:t>How will I</a:t>
            </a:r>
          </a:p>
          <a:p>
            <a:pPr algn="l">
              <a:lnSpc>
                <a:spcPts val="2760"/>
              </a:lnSpc>
              <a:spcBef>
                <a:spcPts val="0"/>
              </a:spcBef>
              <a:spcAft>
                <a:spcPts val="0"/>
              </a:spcAft>
              <a:defRPr sz="2300" b="1">
                <a:solidFill>
                  <a:srgbClr val="213E32"/>
                </a:solidFill>
                <a:latin typeface="Manrope"/>
              </a:defRPr>
            </a:pPr>
            <a:r>
              <a:t>remember?</a:t>
            </a:r>
          </a:p>
        </p:txBody>
      </p:sp>
      <p:sp>
        <p:nvSpPr>
          <p:cNvPr id="19" name="TextBox 18"/>
          <p:cNvSpPr txBox="1"/>
          <p:nvPr/>
        </p:nvSpPr>
        <p:spPr>
          <a:xfrm>
            <a:off x="8293607" y="4736592"/>
            <a:ext cx="2889504" cy="550672"/>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The next step should fit into</a:t>
            </a:r>
          </a:p>
          <a:p>
            <a:pPr algn="l">
              <a:lnSpc>
                <a:spcPts val="1952"/>
              </a:lnSpc>
              <a:spcBef>
                <a:spcPts val="0"/>
              </a:spcBef>
              <a:spcAft>
                <a:spcPts val="0"/>
              </a:spcAft>
              <a:defRPr sz="1600" b="0">
                <a:solidFill>
                  <a:srgbClr val="71816A"/>
                </a:solidFill>
                <a:latin typeface="DM Sans"/>
              </a:defRPr>
            </a:pPr>
            <a:r>
              <a:t>an ordinary week.</a:t>
            </a:r>
          </a:p>
        </p:txBody>
      </p:sp>
      <p:sp>
        <p:nvSpPr>
          <p:cNvPr id="20" name="Rectangle 19"/>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2" name="TextBox 21"/>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CONGRESSIONAL APP CHALLENGE / NC-04</a:t>
            </a:r>
          </a:p>
        </p:txBody>
      </p:sp>
      <p:sp>
        <p:nvSpPr>
          <p:cNvPr id="23" name="TextBox 22"/>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THE SOLUTION</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One calm place for the next step.</a:t>
            </a:r>
          </a:p>
        </p:txBody>
      </p:sp>
      <p:sp>
        <p:nvSpPr>
          <p:cNvPr id="4" name="TextBox 3"/>
          <p:cNvSpPr txBox="1"/>
          <p:nvPr/>
        </p:nvSpPr>
        <p:spPr>
          <a:xfrm>
            <a:off x="694944" y="1563624"/>
            <a:ext cx="106070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Rebound brings the plan, practice, and personal record together.</a:t>
            </a:r>
          </a:p>
        </p:txBody>
      </p:sp>
      <p:sp>
        <p:nvSpPr>
          <p:cNvPr id="5" name="Rounded Rectangle 4"/>
          <p:cNvSpPr/>
          <p:nvPr/>
        </p:nvSpPr>
        <p:spPr>
          <a:xfrm>
            <a:off x="685800" y="2121408"/>
            <a:ext cx="7452360" cy="3986784"/>
          </a:xfrm>
          <a:prstGeom prst="roundRect">
            <a:avLst>
              <a:gd name="adj" fmla="val 3669"/>
            </a:avLst>
          </a:prstGeom>
          <a:solidFill>
            <a:srgbClr val="FFFFFF"/>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b-overview.png"/>
          <p:cNvPicPr>
            <a:picLocks noChangeAspect="1"/>
          </p:cNvPicPr>
          <p:nvPr/>
        </p:nvPicPr>
        <p:blipFill>
          <a:blip r:embed="rId2"/>
          <a:stretch>
            <a:fillRect/>
          </a:stretch>
        </p:blipFill>
        <p:spPr>
          <a:xfrm>
            <a:off x="768096" y="2194560"/>
            <a:ext cx="7287768" cy="3849624"/>
          </a:xfrm>
          <a:prstGeom prst="rect">
            <a:avLst/>
          </a:prstGeom>
        </p:spPr>
      </p:pic>
      <p:sp>
        <p:nvSpPr>
          <p:cNvPr id="7" name="TextBox 6"/>
          <p:cNvSpPr txBox="1"/>
          <p:nvPr/>
        </p:nvSpPr>
        <p:spPr>
          <a:xfrm>
            <a:off x="8540496" y="2267712"/>
            <a:ext cx="594360" cy="271779"/>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Manrope"/>
              </a:defRPr>
            </a:pPr>
            <a:r>
              <a:t>01</a:t>
            </a:r>
          </a:p>
        </p:txBody>
      </p:sp>
      <p:sp>
        <p:nvSpPr>
          <p:cNvPr id="8" name="TextBox 7"/>
          <p:cNvSpPr txBox="1"/>
          <p:nvPr/>
        </p:nvSpPr>
        <p:spPr>
          <a:xfrm>
            <a:off x="9217152" y="2221992"/>
            <a:ext cx="2103120"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213E32"/>
                </a:solidFill>
                <a:latin typeface="Manrope"/>
              </a:defRPr>
            </a:pPr>
            <a:r>
              <a:t>Plan</a:t>
            </a:r>
          </a:p>
        </p:txBody>
      </p:sp>
      <p:sp>
        <p:nvSpPr>
          <p:cNvPr id="9" name="TextBox 8"/>
          <p:cNvSpPr txBox="1"/>
          <p:nvPr/>
        </p:nvSpPr>
        <p:spPr>
          <a:xfrm>
            <a:off x="9217152" y="2660904"/>
            <a:ext cx="2103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Know what is</a:t>
            </a:r>
          </a:p>
          <a:p>
            <a:pPr algn="l">
              <a:lnSpc>
                <a:spcPts val="1830"/>
              </a:lnSpc>
              <a:spcBef>
                <a:spcPts val="0"/>
              </a:spcBef>
              <a:spcAft>
                <a:spcPts val="0"/>
              </a:spcAft>
              <a:defRPr sz="1500" b="0">
                <a:solidFill>
                  <a:srgbClr val="71816A"/>
                </a:solidFill>
                <a:latin typeface="DM Sans"/>
              </a:defRPr>
            </a:pPr>
            <a:r>
              <a:t>scheduled.</a:t>
            </a:r>
          </a:p>
        </p:txBody>
      </p:sp>
      <p:sp>
        <p:nvSpPr>
          <p:cNvPr id="10" name="TextBox 9"/>
          <p:cNvSpPr txBox="1"/>
          <p:nvPr/>
        </p:nvSpPr>
        <p:spPr>
          <a:xfrm>
            <a:off x="8540496" y="3493008"/>
            <a:ext cx="594360" cy="271779"/>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Manrope"/>
              </a:defRPr>
            </a:pPr>
            <a:r>
              <a:t>02</a:t>
            </a:r>
          </a:p>
        </p:txBody>
      </p:sp>
      <p:sp>
        <p:nvSpPr>
          <p:cNvPr id="11" name="TextBox 10"/>
          <p:cNvSpPr txBox="1"/>
          <p:nvPr/>
        </p:nvSpPr>
        <p:spPr>
          <a:xfrm>
            <a:off x="9217152" y="3447288"/>
            <a:ext cx="2103120"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213E32"/>
                </a:solidFill>
                <a:latin typeface="Manrope"/>
              </a:defRPr>
            </a:pPr>
            <a:r>
              <a:t>Practice</a:t>
            </a:r>
          </a:p>
        </p:txBody>
      </p:sp>
      <p:sp>
        <p:nvSpPr>
          <p:cNvPr id="12" name="TextBox 11"/>
          <p:cNvSpPr txBox="1"/>
          <p:nvPr/>
        </p:nvSpPr>
        <p:spPr>
          <a:xfrm>
            <a:off x="9217152" y="3886200"/>
            <a:ext cx="2103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See the movement and</a:t>
            </a:r>
          </a:p>
          <a:p>
            <a:pPr algn="l">
              <a:lnSpc>
                <a:spcPts val="1830"/>
              </a:lnSpc>
              <a:spcBef>
                <a:spcPts val="0"/>
              </a:spcBef>
              <a:spcAft>
                <a:spcPts val="0"/>
              </a:spcAft>
              <a:defRPr sz="1500" b="0">
                <a:solidFill>
                  <a:srgbClr val="71816A"/>
                </a:solidFill>
                <a:latin typeface="DM Sans"/>
              </a:defRPr>
            </a:pPr>
            <a:r>
              <a:t>work at your pace.</a:t>
            </a:r>
          </a:p>
        </p:txBody>
      </p:sp>
      <p:sp>
        <p:nvSpPr>
          <p:cNvPr id="13" name="TextBox 12"/>
          <p:cNvSpPr txBox="1"/>
          <p:nvPr/>
        </p:nvSpPr>
        <p:spPr>
          <a:xfrm>
            <a:off x="8540496" y="4718304"/>
            <a:ext cx="594360" cy="271779"/>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Manrope"/>
              </a:defRPr>
            </a:pPr>
            <a:r>
              <a:t>03</a:t>
            </a:r>
          </a:p>
        </p:txBody>
      </p:sp>
      <p:sp>
        <p:nvSpPr>
          <p:cNvPr id="14" name="TextBox 13"/>
          <p:cNvSpPr txBox="1"/>
          <p:nvPr/>
        </p:nvSpPr>
        <p:spPr>
          <a:xfrm>
            <a:off x="9217152" y="4672584"/>
            <a:ext cx="2103120"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213E32"/>
                </a:solidFill>
                <a:latin typeface="Manrope"/>
              </a:defRPr>
            </a:pPr>
            <a:r>
              <a:t>Reflect</a:t>
            </a:r>
          </a:p>
        </p:txBody>
      </p:sp>
      <p:sp>
        <p:nvSpPr>
          <p:cNvPr id="15" name="TextBox 14"/>
          <p:cNvSpPr txBox="1"/>
          <p:nvPr/>
        </p:nvSpPr>
        <p:spPr>
          <a:xfrm>
            <a:off x="9217152" y="5111496"/>
            <a:ext cx="2103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Log a session and</a:t>
            </a:r>
          </a:p>
          <a:p>
            <a:pPr algn="l">
              <a:lnSpc>
                <a:spcPts val="1830"/>
              </a:lnSpc>
              <a:spcBef>
                <a:spcPts val="0"/>
              </a:spcBef>
              <a:spcAft>
                <a:spcPts val="0"/>
              </a:spcAft>
              <a:defRPr sz="1500" b="0">
                <a:solidFill>
                  <a:srgbClr val="71816A"/>
                </a:solidFill>
                <a:latin typeface="DM Sans"/>
              </a:defRPr>
            </a:pPr>
            <a:r>
              <a:t>prepare for a check-in.</a:t>
            </a:r>
          </a:p>
        </p:txBody>
      </p:sp>
      <p:sp>
        <p:nvSpPr>
          <p:cNvPr id="16" name="Rectangle 15"/>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18" name="TextBox 17"/>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Website interface capture · no patient data</a:t>
            </a:r>
          </a:p>
        </p:txBody>
      </p:sp>
      <p:sp>
        <p:nvSpPr>
          <p:cNvPr id="19" name="TextBox 18"/>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4572000" y="594360"/>
            <a:ext cx="68580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CONSISTENCY, WITH ROOM TO REST</a:t>
            </a:r>
          </a:p>
        </p:txBody>
      </p:sp>
      <p:sp>
        <p:nvSpPr>
          <p:cNvPr id="3" name="TextBox 2"/>
          <p:cNvSpPr txBox="1"/>
          <p:nvPr/>
        </p:nvSpPr>
        <p:spPr>
          <a:xfrm>
            <a:off x="4535424" y="1024128"/>
            <a:ext cx="6766560" cy="1299972"/>
          </a:xfrm>
          <a:prstGeom prst="rect">
            <a:avLst/>
          </a:prstGeom>
          <a:noFill/>
        </p:spPr>
        <p:txBody>
          <a:bodyPr wrap="none" lIns="0" rIns="0" tIns="0" bIns="0">
            <a:spAutoFit/>
          </a:bodyPr>
          <a:lstStyle/>
          <a:p>
            <a:pPr algn="l">
              <a:lnSpc>
                <a:spcPts val="4902"/>
              </a:lnSpc>
              <a:spcBef>
                <a:spcPts val="0"/>
              </a:spcBef>
              <a:spcAft>
                <a:spcPts val="0"/>
              </a:spcAft>
              <a:defRPr sz="4300" b="1">
                <a:solidFill>
                  <a:srgbClr val="213E32"/>
                </a:solidFill>
                <a:latin typeface="Manrope"/>
              </a:defRPr>
            </a:pPr>
            <a:r>
              <a:t>A week you</a:t>
            </a:r>
          </a:p>
          <a:p>
            <a:pPr algn="l">
              <a:lnSpc>
                <a:spcPts val="4902"/>
              </a:lnSpc>
              <a:spcBef>
                <a:spcPts val="0"/>
              </a:spcBef>
              <a:spcAft>
                <a:spcPts val="0"/>
              </a:spcAft>
              <a:defRPr sz="4300" b="1">
                <a:solidFill>
                  <a:srgbClr val="213E32"/>
                </a:solidFill>
                <a:latin typeface="Manrope"/>
              </a:defRPr>
            </a:pPr>
            <a:r>
              <a:t>can follow.</a:t>
            </a:r>
          </a:p>
        </p:txBody>
      </p:sp>
      <p:sp>
        <p:nvSpPr>
          <p:cNvPr id="4" name="Rounded Rectangle 3"/>
          <p:cNvSpPr/>
          <p:nvPr/>
        </p:nvSpPr>
        <p:spPr>
          <a:xfrm>
            <a:off x="941832" y="594359"/>
            <a:ext cx="2642074" cy="5568696"/>
          </a:xfrm>
          <a:prstGeom prst="roundRect">
            <a:avLst>
              <a:gd name="adj" fmla="val 8652"/>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ative-recovery.png"/>
          <p:cNvPicPr>
            <a:picLocks noChangeAspect="1"/>
          </p:cNvPicPr>
          <p:nvPr/>
        </p:nvPicPr>
        <p:blipFill>
          <a:blip r:embed="rId2"/>
          <a:stretch>
            <a:fillRect/>
          </a:stretch>
        </p:blipFill>
        <p:spPr>
          <a:xfrm>
            <a:off x="1005840" y="658368"/>
            <a:ext cx="2514058" cy="5440680"/>
          </a:xfrm>
          <a:prstGeom prst="rect">
            <a:avLst/>
          </a:prstGeom>
        </p:spPr>
      </p:pic>
      <p:sp>
        <p:nvSpPr>
          <p:cNvPr id="6" name="Oval 5"/>
          <p:cNvSpPr/>
          <p:nvPr/>
        </p:nvSpPr>
        <p:spPr>
          <a:xfrm>
            <a:off x="4572000" y="2706624"/>
            <a:ext cx="393192" cy="393192"/>
          </a:xfrm>
          <a:prstGeom prst="ellipse">
            <a:avLst/>
          </a:prstGeom>
          <a:solidFill>
            <a:srgbClr val="E8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2292" y="2779776"/>
            <a:ext cx="292608"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213E32"/>
                </a:solidFill>
                <a:latin typeface="DM Sans"/>
              </a:defRPr>
            </a:pPr>
            <a:r>
              <a:t>01</a:t>
            </a:r>
          </a:p>
        </p:txBody>
      </p:sp>
      <p:sp>
        <p:nvSpPr>
          <p:cNvPr id="8" name="TextBox 7"/>
          <p:cNvSpPr txBox="1"/>
          <p:nvPr/>
        </p:nvSpPr>
        <p:spPr>
          <a:xfrm>
            <a:off x="5212080" y="2688336"/>
            <a:ext cx="59436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A meaningful weekly goal</a:t>
            </a:r>
          </a:p>
        </p:txBody>
      </p:sp>
      <p:sp>
        <p:nvSpPr>
          <p:cNvPr id="9" name="TextBox 8"/>
          <p:cNvSpPr txBox="1"/>
          <p:nvPr/>
        </p:nvSpPr>
        <p:spPr>
          <a:xfrm>
            <a:off x="5212080" y="3099816"/>
            <a:ext cx="566928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Count completed routines against the days in your plan.</a:t>
            </a:r>
          </a:p>
        </p:txBody>
      </p:sp>
      <p:sp>
        <p:nvSpPr>
          <p:cNvPr id="10" name="Oval 9"/>
          <p:cNvSpPr/>
          <p:nvPr/>
        </p:nvSpPr>
        <p:spPr>
          <a:xfrm>
            <a:off x="4572000" y="3694176"/>
            <a:ext cx="393192" cy="393192"/>
          </a:xfrm>
          <a:prstGeom prst="ellipse">
            <a:avLst/>
          </a:prstGeom>
          <a:solidFill>
            <a:srgbClr val="E8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2292" y="3767328"/>
            <a:ext cx="292608"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213E32"/>
                </a:solidFill>
                <a:latin typeface="DM Sans"/>
              </a:defRPr>
            </a:pPr>
            <a:r>
              <a:t>02</a:t>
            </a:r>
          </a:p>
        </p:txBody>
      </p:sp>
      <p:sp>
        <p:nvSpPr>
          <p:cNvPr id="12" name="TextBox 11"/>
          <p:cNvSpPr txBox="1"/>
          <p:nvPr/>
        </p:nvSpPr>
        <p:spPr>
          <a:xfrm>
            <a:off x="5212080" y="3675888"/>
            <a:ext cx="59436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A timely nudge</a:t>
            </a:r>
          </a:p>
        </p:txBody>
      </p:sp>
      <p:sp>
        <p:nvSpPr>
          <p:cNvPr id="13" name="TextBox 12"/>
          <p:cNvSpPr txBox="1"/>
          <p:nvPr/>
        </p:nvSpPr>
        <p:spPr>
          <a:xfrm>
            <a:off x="5212080" y="4087368"/>
            <a:ext cx="566928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Choose reminder days and a time that fits your routine.</a:t>
            </a:r>
          </a:p>
        </p:txBody>
      </p:sp>
      <p:sp>
        <p:nvSpPr>
          <p:cNvPr id="14" name="Oval 13"/>
          <p:cNvSpPr/>
          <p:nvPr/>
        </p:nvSpPr>
        <p:spPr>
          <a:xfrm>
            <a:off x="4572000" y="4681728"/>
            <a:ext cx="393192" cy="393192"/>
          </a:xfrm>
          <a:prstGeom prst="ellipse">
            <a:avLst/>
          </a:prstGeom>
          <a:solidFill>
            <a:srgbClr val="E8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2292" y="4754880"/>
            <a:ext cx="292608"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213E32"/>
                </a:solidFill>
                <a:latin typeface="DM Sans"/>
              </a:defRPr>
            </a:pPr>
            <a:r>
              <a:t>03</a:t>
            </a:r>
          </a:p>
        </p:txBody>
      </p:sp>
      <p:sp>
        <p:nvSpPr>
          <p:cNvPr id="16" name="TextBox 15"/>
          <p:cNvSpPr txBox="1"/>
          <p:nvPr/>
        </p:nvSpPr>
        <p:spPr>
          <a:xfrm>
            <a:off x="5212080" y="4663440"/>
            <a:ext cx="59436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Rest belongs in the plan</a:t>
            </a:r>
          </a:p>
        </p:txBody>
      </p:sp>
      <p:sp>
        <p:nvSpPr>
          <p:cNvPr id="17" name="TextBox 16"/>
          <p:cNvSpPr txBox="1"/>
          <p:nvPr/>
        </p:nvSpPr>
        <p:spPr>
          <a:xfrm>
            <a:off x="5212080" y="5074920"/>
            <a:ext cx="566928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Extra sets do not earn extra goal credit.</a:t>
            </a:r>
          </a:p>
        </p:txBody>
      </p:sp>
      <p:sp>
        <p:nvSpPr>
          <p:cNvPr id="18" name="Rectangle 17"/>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0" name="TextBox 19"/>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Native UI preview · example data · progress measures routine completion, not healing</a:t>
            </a:r>
          </a:p>
        </p:txBody>
      </p:sp>
      <p:sp>
        <p:nvSpPr>
          <p:cNvPr id="21" name="TextBox 20"/>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713232" y="594360"/>
            <a:ext cx="64008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THE COACH</a:t>
            </a:r>
          </a:p>
        </p:txBody>
      </p:sp>
      <p:sp>
        <p:nvSpPr>
          <p:cNvPr id="3" name="TextBox 2"/>
          <p:cNvSpPr txBox="1"/>
          <p:nvPr/>
        </p:nvSpPr>
        <p:spPr>
          <a:xfrm>
            <a:off x="667512" y="1033271"/>
            <a:ext cx="7406640" cy="1223772"/>
          </a:xfrm>
          <a:prstGeom prst="rect">
            <a:avLst/>
          </a:prstGeom>
          <a:noFill/>
        </p:spPr>
        <p:txBody>
          <a:bodyPr wrap="none" lIns="0" rIns="0" tIns="0" bIns="0">
            <a:spAutoFit/>
          </a:bodyPr>
          <a:lstStyle/>
          <a:p>
            <a:pPr algn="l">
              <a:lnSpc>
                <a:spcPts val="4602"/>
              </a:lnSpc>
              <a:spcBef>
                <a:spcPts val="0"/>
              </a:spcBef>
              <a:spcAft>
                <a:spcPts val="0"/>
              </a:spcAft>
              <a:defRPr sz="3900" b="1">
                <a:solidFill>
                  <a:srgbClr val="213E32"/>
                </a:solidFill>
                <a:latin typeface="Manrope"/>
              </a:defRPr>
            </a:pPr>
            <a:r>
              <a:t>Learn the movement.</a:t>
            </a:r>
          </a:p>
          <a:p>
            <a:pPr algn="l">
              <a:lnSpc>
                <a:spcPts val="4602"/>
              </a:lnSpc>
              <a:spcBef>
                <a:spcPts val="0"/>
              </a:spcBef>
              <a:spcAft>
                <a:spcPts val="0"/>
              </a:spcAft>
              <a:defRPr sz="3900" b="1">
                <a:solidFill>
                  <a:srgbClr val="213E32"/>
                </a:solidFill>
                <a:latin typeface="Manrope"/>
              </a:defRPr>
            </a:pPr>
            <a:r>
              <a:t>Then practice.</a:t>
            </a:r>
          </a:p>
        </p:txBody>
      </p:sp>
      <p:sp>
        <p:nvSpPr>
          <p:cNvPr id="4" name="TextBox 3"/>
          <p:cNvSpPr txBox="1"/>
          <p:nvPr/>
        </p:nvSpPr>
        <p:spPr>
          <a:xfrm>
            <a:off x="731520" y="2487168"/>
            <a:ext cx="6035040" cy="774954"/>
          </a:xfrm>
          <a:prstGeom prst="rect">
            <a:avLst/>
          </a:prstGeom>
          <a:noFill/>
        </p:spPr>
        <p:txBody>
          <a:bodyPr wrap="none" lIns="0" rIns="0" tIns="0" bIns="0">
            <a:spAutoFit/>
          </a:bodyPr>
          <a:lstStyle/>
          <a:p>
            <a:pPr algn="l">
              <a:lnSpc>
                <a:spcPts val="2835"/>
              </a:lnSpc>
              <a:spcBef>
                <a:spcPts val="0"/>
              </a:spcBef>
              <a:spcAft>
                <a:spcPts val="0"/>
              </a:spcAft>
              <a:defRPr sz="2100" b="0">
                <a:solidFill>
                  <a:srgbClr val="71816A"/>
                </a:solidFill>
                <a:latin typeface="DM Sans"/>
              </a:defRPr>
            </a:pPr>
            <a:r>
              <a:t>Start the routine first.</a:t>
            </a:r>
          </a:p>
          <a:p>
            <a:pPr algn="l">
              <a:lnSpc>
                <a:spcPts val="2835"/>
              </a:lnSpc>
              <a:spcBef>
                <a:spcPts val="0"/>
              </a:spcBef>
              <a:spcAft>
                <a:spcPts val="0"/>
              </a:spcAft>
              <a:defRPr sz="2100" b="0">
                <a:solidFill>
                  <a:srgbClr val="71816A"/>
                </a:solidFill>
                <a:latin typeface="DM Sans"/>
              </a:defRPr>
            </a:pPr>
            <a:r>
              <a:t>Explore the library when you need it.</a:t>
            </a:r>
          </a:p>
        </p:txBody>
      </p:sp>
      <p:sp>
        <p:nvSpPr>
          <p:cNvPr id="5" name="Rectangle 4"/>
          <p:cNvSpPr/>
          <p:nvPr/>
        </p:nvSpPr>
        <p:spPr>
          <a:xfrm>
            <a:off x="731520" y="3429000"/>
            <a:ext cx="6126480"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703320"/>
            <a:ext cx="1645920" cy="860551"/>
          </a:xfrm>
          <a:prstGeom prst="rect">
            <a:avLst/>
          </a:prstGeom>
          <a:noFill/>
        </p:spPr>
        <p:txBody>
          <a:bodyPr wrap="none" lIns="0" rIns="0" tIns="0" bIns="0">
            <a:spAutoFit/>
          </a:bodyPr>
          <a:lstStyle/>
          <a:p>
            <a:pPr algn="l">
              <a:lnSpc>
                <a:spcPts val="6344"/>
              </a:lnSpc>
              <a:spcBef>
                <a:spcPts val="0"/>
              </a:spcBef>
              <a:spcAft>
                <a:spcPts val="0"/>
              </a:spcAft>
              <a:defRPr sz="5200" b="1">
                <a:solidFill>
                  <a:srgbClr val="213E32"/>
                </a:solidFill>
                <a:latin typeface="Manrope"/>
              </a:defRPr>
            </a:pPr>
            <a:r>
              <a:t>22</a:t>
            </a:r>
          </a:p>
        </p:txBody>
      </p:sp>
      <p:sp>
        <p:nvSpPr>
          <p:cNvPr id="7" name="TextBox 6"/>
          <p:cNvSpPr txBox="1"/>
          <p:nvPr/>
        </p:nvSpPr>
        <p:spPr>
          <a:xfrm>
            <a:off x="2286000" y="3931920"/>
            <a:ext cx="4663440" cy="380238"/>
          </a:xfrm>
          <a:prstGeom prst="rect">
            <a:avLst/>
          </a:prstGeom>
          <a:noFill/>
        </p:spPr>
        <p:txBody>
          <a:bodyPr wrap="none" lIns="0" rIns="0" tIns="0" bIns="0">
            <a:spAutoFit/>
          </a:bodyPr>
          <a:lstStyle/>
          <a:p>
            <a:pPr algn="l">
              <a:lnSpc>
                <a:spcPts val="2562"/>
              </a:lnSpc>
              <a:spcBef>
                <a:spcPts val="0"/>
              </a:spcBef>
              <a:spcAft>
                <a:spcPts val="0"/>
              </a:spcAft>
              <a:defRPr sz="2100" b="0">
                <a:solidFill>
                  <a:srgbClr val="213E32"/>
                </a:solidFill>
                <a:latin typeface="DM Sans"/>
              </a:defRPr>
            </a:pPr>
            <a:r>
              <a:t>illustrated movement guides</a:t>
            </a:r>
          </a:p>
        </p:txBody>
      </p:sp>
      <p:sp>
        <p:nvSpPr>
          <p:cNvPr id="8" name="TextBox 7"/>
          <p:cNvSpPr txBox="1"/>
          <p:nvPr/>
        </p:nvSpPr>
        <p:spPr>
          <a:xfrm>
            <a:off x="768096" y="4736592"/>
            <a:ext cx="6492240" cy="999744"/>
          </a:xfrm>
          <a:prstGeom prst="rect">
            <a:avLst/>
          </a:prstGeom>
          <a:noFill/>
        </p:spPr>
        <p:txBody>
          <a:bodyPr wrap="none" lIns="0" rIns="0" tIns="0" bIns="0">
            <a:spAutoFit/>
          </a:bodyPr>
          <a:lstStyle/>
          <a:p>
            <a:pPr algn="l">
              <a:lnSpc>
                <a:spcPts val="2480"/>
              </a:lnSpc>
              <a:spcBef>
                <a:spcPts val="0"/>
              </a:spcBef>
              <a:spcAft>
                <a:spcPts val="0"/>
              </a:spcAft>
              <a:defRPr sz="1600" b="0">
                <a:solidFill>
                  <a:srgbClr val="71816A"/>
                </a:solidFill>
                <a:latin typeface="DM Sans"/>
              </a:defRPr>
            </a:pPr>
            <a:r>
              <a:t>Step-by-step teaching</a:t>
            </a:r>
          </a:p>
          <a:p>
            <a:pPr algn="l">
              <a:lnSpc>
                <a:spcPts val="2480"/>
              </a:lnSpc>
              <a:spcBef>
                <a:spcPts val="0"/>
              </a:spcBef>
              <a:spcAft>
                <a:spcPts val="0"/>
              </a:spcAft>
              <a:defRPr sz="1600" b="0">
                <a:solidFill>
                  <a:srgbClr val="71816A"/>
                </a:solidFill>
                <a:latin typeface="DM Sans"/>
              </a:defRPr>
            </a:pPr>
            <a:r>
              <a:t>Slow practice for supported camera movements</a:t>
            </a:r>
          </a:p>
          <a:p>
            <a:pPr algn="l">
              <a:lnSpc>
                <a:spcPts val="2480"/>
              </a:lnSpc>
              <a:spcBef>
                <a:spcPts val="0"/>
              </a:spcBef>
              <a:spcAft>
                <a:spcPts val="0"/>
              </a:spcAft>
              <a:defRPr sz="1600" b="0">
                <a:solidFill>
                  <a:srgbClr val="71816A"/>
                </a:solidFill>
                <a:latin typeface="DM Sans"/>
              </a:defRPr>
            </a:pPr>
            <a:r>
              <a:t>Band and dowel examples with individual clearance</a:t>
            </a:r>
          </a:p>
        </p:txBody>
      </p:sp>
      <p:sp>
        <p:nvSpPr>
          <p:cNvPr id="9" name="Rounded Rectangle 8"/>
          <p:cNvSpPr/>
          <p:nvPr/>
        </p:nvSpPr>
        <p:spPr>
          <a:xfrm>
            <a:off x="8458200" y="502920"/>
            <a:ext cx="2663200" cy="5614416"/>
          </a:xfrm>
          <a:prstGeom prst="roundRect">
            <a:avLst>
              <a:gd name="adj" fmla="val 8583"/>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native-coach.png"/>
          <p:cNvPicPr>
            <a:picLocks noChangeAspect="1"/>
          </p:cNvPicPr>
          <p:nvPr/>
        </p:nvPicPr>
        <p:blipFill>
          <a:blip r:embed="rId2"/>
          <a:stretch>
            <a:fillRect/>
          </a:stretch>
        </p:blipFill>
        <p:spPr>
          <a:xfrm>
            <a:off x="8522208" y="566928"/>
            <a:ext cx="2535184" cy="5486400"/>
          </a:xfrm>
          <a:prstGeom prst="rect">
            <a:avLst/>
          </a:prstGeom>
        </p:spPr>
      </p:pic>
      <p:sp>
        <p:nvSpPr>
          <p:cNvPr id="11" name="Rectangle 10"/>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13" name="TextBox 12"/>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Native UI preview · example data · exercise choice and dose require individual clearance</a:t>
            </a:r>
          </a:p>
        </p:txBody>
      </p:sp>
      <p:sp>
        <p:nvSpPr>
          <p:cNvPr id="14" name="TextBox 13"/>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13E32"/>
        </a:solidFill>
        <a:effectLst/>
      </p:bgPr>
    </p:bg>
    <p:spTree>
      <p:nvGrpSpPr>
        <p:cNvPr id="1" name=""/>
        <p:cNvGrpSpPr/>
        <p:nvPr/>
      </p:nvGrpSpPr>
      <p:grpSpPr/>
      <p:sp>
        <p:nvSpPr>
          <p:cNvPr id="2" name="TextBox 1"/>
          <p:cNvSpPr txBox="1"/>
          <p:nvPr/>
        </p:nvSpPr>
        <p:spPr>
          <a:xfrm>
            <a:off x="4389120" y="594360"/>
            <a:ext cx="68580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B9CEA7"/>
                </a:solidFill>
                <a:latin typeface="DM Sans"/>
              </a:defRPr>
            </a:pPr>
            <a:r>
              <a:t>ON-DEVICE CAMERA COACH</a:t>
            </a:r>
          </a:p>
        </p:txBody>
      </p:sp>
      <p:sp>
        <p:nvSpPr>
          <p:cNvPr id="3" name="TextBox 2"/>
          <p:cNvSpPr txBox="1"/>
          <p:nvPr/>
        </p:nvSpPr>
        <p:spPr>
          <a:xfrm>
            <a:off x="4343400" y="1024128"/>
            <a:ext cx="6858000" cy="1223264"/>
          </a:xfrm>
          <a:prstGeom prst="rect">
            <a:avLst/>
          </a:prstGeom>
          <a:noFill/>
        </p:spPr>
        <p:txBody>
          <a:bodyPr wrap="none" lIns="0" rIns="0" tIns="0" bIns="0">
            <a:spAutoFit/>
          </a:bodyPr>
          <a:lstStyle/>
          <a:p>
            <a:pPr algn="l">
              <a:lnSpc>
                <a:spcPts val="4600"/>
              </a:lnSpc>
              <a:spcBef>
                <a:spcPts val="0"/>
              </a:spcBef>
              <a:spcAft>
                <a:spcPts val="0"/>
              </a:spcAft>
              <a:defRPr sz="4000" b="1">
                <a:solidFill>
                  <a:srgbClr val="FFFFFF"/>
                </a:solidFill>
                <a:latin typeface="Manrope"/>
              </a:defRPr>
            </a:pPr>
            <a:r>
              <a:t>Guidance where</a:t>
            </a:r>
          </a:p>
          <a:p>
            <a:pPr algn="l">
              <a:lnSpc>
                <a:spcPts val="4600"/>
              </a:lnSpc>
              <a:spcBef>
                <a:spcPts val="0"/>
              </a:spcBef>
              <a:spcAft>
                <a:spcPts val="0"/>
              </a:spcAft>
              <a:defRPr sz="4000" b="1">
                <a:solidFill>
                  <a:srgbClr val="FFFFFF"/>
                </a:solidFill>
                <a:latin typeface="Manrope"/>
              </a:defRPr>
            </a:pPr>
            <a:r>
              <a:t>you are looking.</a:t>
            </a:r>
          </a:p>
        </p:txBody>
      </p:sp>
      <p:sp>
        <p:nvSpPr>
          <p:cNvPr id="4" name="Rounded Rectangle 3"/>
          <p:cNvSpPr/>
          <p:nvPr/>
        </p:nvSpPr>
        <p:spPr>
          <a:xfrm>
            <a:off x="877824" y="557784"/>
            <a:ext cx="2650524" cy="5586983"/>
          </a:xfrm>
          <a:prstGeom prst="roundRect">
            <a:avLst>
              <a:gd name="adj" fmla="val 8624"/>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mera-ui.png"/>
          <p:cNvPicPr>
            <a:picLocks noChangeAspect="1"/>
          </p:cNvPicPr>
          <p:nvPr/>
        </p:nvPicPr>
        <p:blipFill>
          <a:blip r:embed="rId2"/>
          <a:stretch>
            <a:fillRect/>
          </a:stretch>
        </p:blipFill>
        <p:spPr>
          <a:xfrm>
            <a:off x="941832" y="621792"/>
            <a:ext cx="2522508" cy="5458968"/>
          </a:xfrm>
          <a:prstGeom prst="rect">
            <a:avLst/>
          </a:prstGeom>
        </p:spPr>
      </p:pic>
      <p:sp>
        <p:nvSpPr>
          <p:cNvPr id="6" name="Oval 5"/>
          <p:cNvSpPr/>
          <p:nvPr/>
        </p:nvSpPr>
        <p:spPr>
          <a:xfrm>
            <a:off x="4425696" y="2788920"/>
            <a:ext cx="109728" cy="109728"/>
          </a:xfrm>
          <a:prstGeom prst="ellipse">
            <a:avLst/>
          </a:prstGeom>
          <a:solidFill>
            <a:srgbClr val="D9E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36592" y="2706624"/>
            <a:ext cx="64008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FFFFFF"/>
                </a:solidFill>
                <a:latin typeface="Manrope"/>
              </a:defRPr>
            </a:pPr>
            <a:r>
              <a:t>A full-screen view</a:t>
            </a:r>
          </a:p>
        </p:txBody>
      </p:sp>
      <p:sp>
        <p:nvSpPr>
          <p:cNvPr id="8" name="TextBox 7"/>
          <p:cNvSpPr txBox="1"/>
          <p:nvPr/>
        </p:nvSpPr>
        <p:spPr>
          <a:xfrm>
            <a:off x="4736592" y="3108960"/>
            <a:ext cx="62636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C5D6B8"/>
                </a:solidFill>
                <a:latin typeface="DM Sans"/>
              </a:defRPr>
            </a:pPr>
            <a:r>
              <a:t>A large rep counter and simple controls.</a:t>
            </a:r>
          </a:p>
        </p:txBody>
      </p:sp>
      <p:sp>
        <p:nvSpPr>
          <p:cNvPr id="9" name="Oval 8"/>
          <p:cNvSpPr/>
          <p:nvPr/>
        </p:nvSpPr>
        <p:spPr>
          <a:xfrm>
            <a:off x="4425696" y="3749039"/>
            <a:ext cx="109728" cy="109728"/>
          </a:xfrm>
          <a:prstGeom prst="ellipse">
            <a:avLst/>
          </a:prstGeom>
          <a:solidFill>
            <a:srgbClr val="D9E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3666744"/>
            <a:ext cx="64008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FFFFFF"/>
                </a:solidFill>
                <a:latin typeface="Manrope"/>
              </a:defRPr>
            </a:pPr>
            <a:r>
              <a:t>A timely correction cue</a:t>
            </a:r>
          </a:p>
        </p:txBody>
      </p:sp>
      <p:sp>
        <p:nvSpPr>
          <p:cNvPr id="11" name="TextBox 10"/>
          <p:cNvSpPr txBox="1"/>
          <p:nvPr/>
        </p:nvSpPr>
        <p:spPr>
          <a:xfrm>
            <a:off x="4736592" y="4069080"/>
            <a:ext cx="62636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C5D6B8"/>
                </a:solidFill>
                <a:latin typeface="DM Sans"/>
              </a:defRPr>
            </a:pPr>
            <a:r>
              <a:t>An illustrated adjustment appears inside the camera view.</a:t>
            </a:r>
          </a:p>
        </p:txBody>
      </p:sp>
      <p:sp>
        <p:nvSpPr>
          <p:cNvPr id="12" name="Oval 11"/>
          <p:cNvSpPr/>
          <p:nvPr/>
        </p:nvSpPr>
        <p:spPr>
          <a:xfrm>
            <a:off x="4425696" y="4709159"/>
            <a:ext cx="109728" cy="109728"/>
          </a:xfrm>
          <a:prstGeom prst="ellipse">
            <a:avLst/>
          </a:prstGeom>
          <a:solidFill>
            <a:srgbClr val="D9E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4626864"/>
            <a:ext cx="640080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FFFFFF"/>
                </a:solidFill>
                <a:latin typeface="Manrope"/>
              </a:defRPr>
            </a:pPr>
            <a:r>
              <a:t>Pause, breathe, resume</a:t>
            </a:r>
          </a:p>
        </p:txBody>
      </p:sp>
      <p:sp>
        <p:nvSpPr>
          <p:cNvPr id="14" name="TextBox 13"/>
          <p:cNvSpPr txBox="1"/>
          <p:nvPr/>
        </p:nvSpPr>
        <p:spPr>
          <a:xfrm>
            <a:off x="4736592" y="5029200"/>
            <a:ext cx="62636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C5D6B8"/>
                </a:solidFill>
                <a:latin typeface="DM Sans"/>
              </a:defRPr>
            </a:pPr>
            <a:r>
              <a:t>Stillness pauses the session; set breaks support pacing.</a:t>
            </a:r>
          </a:p>
        </p:txBody>
      </p:sp>
      <p:sp>
        <p:nvSpPr>
          <p:cNvPr id="15" name="Rectangle 14"/>
          <p:cNvSpPr/>
          <p:nvPr/>
        </p:nvSpPr>
        <p:spPr>
          <a:xfrm>
            <a:off x="658368" y="6391656"/>
            <a:ext cx="10872216" cy="914"/>
          </a:xfrm>
          <a:prstGeom prst="rect">
            <a:avLst/>
          </a:prstGeom>
          <a:solidFill>
            <a:srgbClr val="3A5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D9EDB4"/>
                </a:solidFill>
                <a:latin typeface="Manrope"/>
              </a:defRPr>
            </a:pPr>
            <a:r>
              <a:t>rebound.</a:t>
            </a:r>
          </a:p>
        </p:txBody>
      </p:sp>
      <p:sp>
        <p:nvSpPr>
          <p:cNvPr id="17" name="TextBox 16"/>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AEC1A0"/>
                </a:solidFill>
                <a:latin typeface="DM Sans"/>
              </a:defRPr>
            </a:pPr>
            <a:r>
              <a:t>Interface test preview · camera feed omitted · estimates are experimental, not clinical assessment</a:t>
            </a:r>
          </a:p>
        </p:txBody>
      </p:sp>
      <p:sp>
        <p:nvSpPr>
          <p:cNvPr id="18" name="TextBox 17"/>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AEC1A0"/>
                </a:solidFill>
                <a:latin typeface="Manrope"/>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PRIVACY AND CARE</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Your camera. Your choice.</a:t>
            </a:r>
          </a:p>
        </p:txBody>
      </p:sp>
      <p:sp>
        <p:nvSpPr>
          <p:cNvPr id="4" name="TextBox 3"/>
          <p:cNvSpPr txBox="1"/>
          <p:nvPr/>
        </p:nvSpPr>
        <p:spPr>
          <a:xfrm>
            <a:off x="694944" y="1563624"/>
            <a:ext cx="106070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Normal coaching does not automatically record or upload a clip.</a:t>
            </a:r>
          </a:p>
        </p:txBody>
      </p:sp>
      <p:sp>
        <p:nvSpPr>
          <p:cNvPr id="5" name="Rounded Rectangle 4"/>
          <p:cNvSpPr/>
          <p:nvPr/>
        </p:nvSpPr>
        <p:spPr>
          <a:xfrm>
            <a:off x="685800" y="2423160"/>
            <a:ext cx="3456432" cy="3035808"/>
          </a:xfrm>
          <a:prstGeom prst="roundRect">
            <a:avLst>
              <a:gd name="adj" fmla="val 7228"/>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2706624"/>
            <a:ext cx="914400" cy="256285"/>
          </a:xfrm>
          <a:prstGeom prst="rect">
            <a:avLst/>
          </a:prstGeom>
          <a:noFill/>
        </p:spPr>
        <p:txBody>
          <a:bodyPr wrap="none" lIns="0" rIns="0" tIns="0" bIns="0">
            <a:spAutoFit/>
          </a:bodyPr>
          <a:lstStyle/>
          <a:p>
            <a:pPr algn="l">
              <a:lnSpc>
                <a:spcPts val="1586"/>
              </a:lnSpc>
              <a:spcBef>
                <a:spcPts val="0"/>
              </a:spcBef>
              <a:spcAft>
                <a:spcPts val="0"/>
              </a:spcAft>
              <a:defRPr sz="1300" b="1">
                <a:solidFill>
                  <a:srgbClr val="71816A"/>
                </a:solidFill>
                <a:latin typeface="DM Sans"/>
              </a:defRPr>
            </a:pPr>
            <a:r>
              <a:t>01</a:t>
            </a:r>
          </a:p>
        </p:txBody>
      </p:sp>
      <p:sp>
        <p:nvSpPr>
          <p:cNvPr id="7" name="TextBox 6"/>
          <p:cNvSpPr txBox="1"/>
          <p:nvPr/>
        </p:nvSpPr>
        <p:spPr>
          <a:xfrm>
            <a:off x="941832" y="3246120"/>
            <a:ext cx="2907792"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Process locally</a:t>
            </a:r>
          </a:p>
        </p:txBody>
      </p:sp>
      <p:sp>
        <p:nvSpPr>
          <p:cNvPr id="8" name="TextBox 7"/>
          <p:cNvSpPr txBox="1"/>
          <p:nvPr/>
        </p:nvSpPr>
        <p:spPr>
          <a:xfrm>
            <a:off x="941832" y="4343400"/>
            <a:ext cx="2907792" cy="616204"/>
          </a:xfrm>
          <a:prstGeom prst="rect">
            <a:avLst/>
          </a:prstGeom>
          <a:noFill/>
        </p:spPr>
        <p:txBody>
          <a:bodyPr wrap="none" lIns="0" rIns="0" tIns="0" bIns="0">
            <a:spAutoFit/>
          </a:bodyPr>
          <a:lstStyle/>
          <a:p>
            <a:pPr algn="l">
              <a:lnSpc>
                <a:spcPts val="2210"/>
              </a:lnSpc>
              <a:spcBef>
                <a:spcPts val="0"/>
              </a:spcBef>
              <a:spcAft>
                <a:spcPts val="0"/>
              </a:spcAft>
              <a:defRPr sz="1700" b="0">
                <a:solidFill>
                  <a:srgbClr val="71816A"/>
                </a:solidFill>
                <a:latin typeface="DM Sans"/>
              </a:defRPr>
            </a:pPr>
            <a:r>
              <a:t>Pose estimation runs on the</a:t>
            </a:r>
          </a:p>
          <a:p>
            <a:pPr algn="l">
              <a:lnSpc>
                <a:spcPts val="2210"/>
              </a:lnSpc>
              <a:spcBef>
                <a:spcPts val="0"/>
              </a:spcBef>
              <a:spcAft>
                <a:spcPts val="0"/>
              </a:spcAft>
              <a:defRPr sz="1700" b="0">
                <a:solidFill>
                  <a:srgbClr val="71816A"/>
                </a:solidFill>
                <a:latin typeface="DM Sans"/>
              </a:defRPr>
            </a:pPr>
            <a:r>
              <a:t>device during coaching.</a:t>
            </a:r>
          </a:p>
        </p:txBody>
      </p:sp>
      <p:sp>
        <p:nvSpPr>
          <p:cNvPr id="9" name="Rounded Rectangle 8"/>
          <p:cNvSpPr/>
          <p:nvPr/>
        </p:nvSpPr>
        <p:spPr>
          <a:xfrm>
            <a:off x="4361688" y="2423160"/>
            <a:ext cx="3456432" cy="3035808"/>
          </a:xfrm>
          <a:prstGeom prst="roundRect">
            <a:avLst>
              <a:gd name="adj" fmla="val 7228"/>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706624"/>
            <a:ext cx="914400" cy="256285"/>
          </a:xfrm>
          <a:prstGeom prst="rect">
            <a:avLst/>
          </a:prstGeom>
          <a:noFill/>
        </p:spPr>
        <p:txBody>
          <a:bodyPr wrap="none" lIns="0" rIns="0" tIns="0" bIns="0">
            <a:spAutoFit/>
          </a:bodyPr>
          <a:lstStyle/>
          <a:p>
            <a:pPr algn="l">
              <a:lnSpc>
                <a:spcPts val="1586"/>
              </a:lnSpc>
              <a:spcBef>
                <a:spcPts val="0"/>
              </a:spcBef>
              <a:spcAft>
                <a:spcPts val="0"/>
              </a:spcAft>
              <a:defRPr sz="1300" b="1">
                <a:solidFill>
                  <a:srgbClr val="71816A"/>
                </a:solidFill>
                <a:latin typeface="DM Sans"/>
              </a:defRPr>
            </a:pPr>
            <a:r>
              <a:t>02</a:t>
            </a:r>
          </a:p>
        </p:txBody>
      </p:sp>
      <p:sp>
        <p:nvSpPr>
          <p:cNvPr id="11" name="TextBox 10"/>
          <p:cNvSpPr txBox="1"/>
          <p:nvPr/>
        </p:nvSpPr>
        <p:spPr>
          <a:xfrm>
            <a:off x="4617720" y="3246120"/>
            <a:ext cx="2907792" cy="829563"/>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Review before</a:t>
            </a:r>
          </a:p>
          <a:p>
            <a:pPr algn="l">
              <a:lnSpc>
                <a:spcPts val="3050"/>
              </a:lnSpc>
              <a:spcBef>
                <a:spcPts val="0"/>
              </a:spcBef>
              <a:spcAft>
                <a:spcPts val="0"/>
              </a:spcAft>
              <a:defRPr sz="2500" b="1">
                <a:solidFill>
                  <a:srgbClr val="213E32"/>
                </a:solidFill>
                <a:latin typeface="Manrope"/>
              </a:defRPr>
            </a:pPr>
            <a:r>
              <a:t>sharing</a:t>
            </a:r>
          </a:p>
        </p:txBody>
      </p:sp>
      <p:sp>
        <p:nvSpPr>
          <p:cNvPr id="12" name="TextBox 11"/>
          <p:cNvSpPr txBox="1"/>
          <p:nvPr/>
        </p:nvSpPr>
        <p:spPr>
          <a:xfrm>
            <a:off x="4617720" y="4343400"/>
            <a:ext cx="2907792" cy="896873"/>
          </a:xfrm>
          <a:prstGeom prst="rect">
            <a:avLst/>
          </a:prstGeom>
          <a:noFill/>
        </p:spPr>
        <p:txBody>
          <a:bodyPr wrap="none" lIns="0" rIns="0" tIns="0" bIns="0">
            <a:spAutoFit/>
          </a:bodyPr>
          <a:lstStyle/>
          <a:p>
            <a:pPr algn="l">
              <a:lnSpc>
                <a:spcPts val="2210"/>
              </a:lnSpc>
              <a:spcBef>
                <a:spcPts val="0"/>
              </a:spcBef>
              <a:spcAft>
                <a:spcPts val="0"/>
              </a:spcAft>
              <a:defRPr sz="1700" b="0">
                <a:solidFill>
                  <a:srgbClr val="71816A"/>
                </a:solidFill>
                <a:latin typeface="DM Sans"/>
              </a:defRPr>
            </a:pPr>
            <a:r>
              <a:t>A separate short recording</a:t>
            </a:r>
          </a:p>
          <a:p>
            <a:pPr algn="l">
              <a:lnSpc>
                <a:spcPts val="2210"/>
              </a:lnSpc>
              <a:spcBef>
                <a:spcPts val="0"/>
              </a:spcBef>
              <a:spcAft>
                <a:spcPts val="0"/>
              </a:spcAft>
              <a:defRPr sz="1700" b="0">
                <a:solidFill>
                  <a:srgbClr val="71816A"/>
                </a:solidFill>
                <a:latin typeface="DM Sans"/>
              </a:defRPr>
            </a:pPr>
            <a:r>
              <a:t>is reviewed before the user</a:t>
            </a:r>
          </a:p>
          <a:p>
            <a:pPr algn="l">
              <a:lnSpc>
                <a:spcPts val="2210"/>
              </a:lnSpc>
              <a:spcBef>
                <a:spcPts val="0"/>
              </a:spcBef>
              <a:spcAft>
                <a:spcPts val="0"/>
              </a:spcAft>
              <a:defRPr sz="1700" b="0">
                <a:solidFill>
                  <a:srgbClr val="71816A"/>
                </a:solidFill>
                <a:latin typeface="DM Sans"/>
              </a:defRPr>
            </a:pPr>
            <a:r>
              <a:t>chooses to share.</a:t>
            </a:r>
          </a:p>
        </p:txBody>
      </p:sp>
      <p:sp>
        <p:nvSpPr>
          <p:cNvPr id="13" name="Rounded Rectangle 12"/>
          <p:cNvSpPr/>
          <p:nvPr/>
        </p:nvSpPr>
        <p:spPr>
          <a:xfrm>
            <a:off x="8037575" y="2423160"/>
            <a:ext cx="3456432" cy="3035808"/>
          </a:xfrm>
          <a:prstGeom prst="roundRect">
            <a:avLst>
              <a:gd name="adj" fmla="val 7228"/>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2706624"/>
            <a:ext cx="914400" cy="256285"/>
          </a:xfrm>
          <a:prstGeom prst="rect">
            <a:avLst/>
          </a:prstGeom>
          <a:noFill/>
        </p:spPr>
        <p:txBody>
          <a:bodyPr wrap="none" lIns="0" rIns="0" tIns="0" bIns="0">
            <a:spAutoFit/>
          </a:bodyPr>
          <a:lstStyle/>
          <a:p>
            <a:pPr algn="l">
              <a:lnSpc>
                <a:spcPts val="1586"/>
              </a:lnSpc>
              <a:spcBef>
                <a:spcPts val="0"/>
              </a:spcBef>
              <a:spcAft>
                <a:spcPts val="0"/>
              </a:spcAft>
              <a:defRPr sz="1300" b="1">
                <a:solidFill>
                  <a:srgbClr val="71816A"/>
                </a:solidFill>
                <a:latin typeface="DM Sans"/>
              </a:defRPr>
            </a:pPr>
            <a:r>
              <a:t>03</a:t>
            </a:r>
          </a:p>
        </p:txBody>
      </p:sp>
      <p:sp>
        <p:nvSpPr>
          <p:cNvPr id="15" name="TextBox 14"/>
          <p:cNvSpPr txBox="1"/>
          <p:nvPr/>
        </p:nvSpPr>
        <p:spPr>
          <a:xfrm>
            <a:off x="8293607" y="3246120"/>
            <a:ext cx="2907792" cy="829563"/>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Keep care</a:t>
            </a:r>
          </a:p>
          <a:p>
            <a:pPr algn="l">
              <a:lnSpc>
                <a:spcPts val="3050"/>
              </a:lnSpc>
              <a:spcBef>
                <a:spcPts val="0"/>
              </a:spcBef>
              <a:spcAft>
                <a:spcPts val="0"/>
              </a:spcAft>
              <a:defRPr sz="2500" b="1">
                <a:solidFill>
                  <a:srgbClr val="213E32"/>
                </a:solidFill>
                <a:latin typeface="Manrope"/>
              </a:defRPr>
            </a:pPr>
            <a:r>
              <a:t>connected</a:t>
            </a:r>
          </a:p>
        </p:txBody>
      </p:sp>
      <p:sp>
        <p:nvSpPr>
          <p:cNvPr id="16" name="TextBox 15"/>
          <p:cNvSpPr txBox="1"/>
          <p:nvPr/>
        </p:nvSpPr>
        <p:spPr>
          <a:xfrm>
            <a:off x="8293607" y="4343400"/>
            <a:ext cx="2907792" cy="896873"/>
          </a:xfrm>
          <a:prstGeom prst="rect">
            <a:avLst/>
          </a:prstGeom>
          <a:noFill/>
        </p:spPr>
        <p:txBody>
          <a:bodyPr wrap="none" lIns="0" rIns="0" tIns="0" bIns="0">
            <a:spAutoFit/>
          </a:bodyPr>
          <a:lstStyle/>
          <a:p>
            <a:pPr algn="l">
              <a:lnSpc>
                <a:spcPts val="2210"/>
              </a:lnSpc>
              <a:spcBef>
                <a:spcPts val="0"/>
              </a:spcBef>
              <a:spcAft>
                <a:spcPts val="0"/>
              </a:spcAft>
              <a:defRPr sz="1700" b="0">
                <a:solidFill>
                  <a:srgbClr val="71816A"/>
                </a:solidFill>
                <a:latin typeface="DM Sans"/>
              </a:defRPr>
            </a:pPr>
            <a:r>
              <a:t>Clinic workflows support</a:t>
            </a:r>
          </a:p>
          <a:p>
            <a:pPr algn="l">
              <a:lnSpc>
                <a:spcPts val="2210"/>
              </a:lnSpc>
              <a:spcBef>
                <a:spcPts val="0"/>
              </a:spcBef>
              <a:spcAft>
                <a:spcPts val="0"/>
              </a:spcAft>
              <a:defRPr sz="1700" b="0">
                <a:solidFill>
                  <a:srgbClr val="71816A"/>
                </a:solidFill>
                <a:latin typeface="DM Sans"/>
              </a:defRPr>
            </a:pPr>
            <a:r>
              <a:t>clinician plans and explicitly</a:t>
            </a:r>
          </a:p>
          <a:p>
            <a:pPr algn="l">
              <a:lnSpc>
                <a:spcPts val="2210"/>
              </a:lnSpc>
              <a:spcBef>
                <a:spcPts val="0"/>
              </a:spcBef>
              <a:spcAft>
                <a:spcPts val="0"/>
              </a:spcAft>
              <a:defRPr sz="1700" b="0">
                <a:solidFill>
                  <a:srgbClr val="71816A"/>
                </a:solidFill>
                <a:latin typeface="DM Sans"/>
              </a:defRPr>
            </a:pPr>
            <a:r>
              <a:t>shared clips.</a:t>
            </a:r>
          </a:p>
        </p:txBody>
      </p:sp>
      <p:sp>
        <p:nvSpPr>
          <p:cNvPr id="17" name="TextBox 16"/>
          <p:cNvSpPr txBox="1"/>
          <p:nvPr/>
        </p:nvSpPr>
        <p:spPr>
          <a:xfrm>
            <a:off x="731520" y="5797296"/>
            <a:ext cx="10881360" cy="256285"/>
          </a:xfrm>
          <a:prstGeom prst="rect">
            <a:avLst/>
          </a:prstGeom>
          <a:noFill/>
        </p:spPr>
        <p:txBody>
          <a:bodyPr wrap="none" lIns="0" rIns="0" tIns="0" bIns="0">
            <a:spAutoFit/>
          </a:bodyPr>
          <a:lstStyle/>
          <a:p>
            <a:pPr algn="l">
              <a:lnSpc>
                <a:spcPts val="1586"/>
              </a:lnSpc>
              <a:spcBef>
                <a:spcPts val="0"/>
              </a:spcBef>
              <a:spcAft>
                <a:spcPts val="0"/>
              </a:spcAft>
              <a:defRPr sz="1300" b="0">
                <a:solidFill>
                  <a:srgbClr val="71816A"/>
                </a:solidFill>
                <a:latin typeface="DM Sans"/>
              </a:defRPr>
            </a:pPr>
            <a:r>
              <a:t>Clinic delivery requires configured services and connected accounts. Rebound does not diagnose injuries.</a:t>
            </a:r>
          </a:p>
        </p:txBody>
      </p:sp>
      <p:sp>
        <p:nvSpPr>
          <p:cNvPr id="18" name="Rectangle 17"/>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0" name="TextBox 19"/>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CONGRESSIONAL APP CHALLENGE / NC-04</a:t>
            </a:r>
          </a:p>
        </p:txBody>
      </p:sp>
      <p:sp>
        <p:nvSpPr>
          <p:cNvPr id="21" name="TextBox 20"/>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HOW IT WORKS</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Built around one shared recovery loop.</a:t>
            </a:r>
          </a:p>
        </p:txBody>
      </p:sp>
      <p:sp>
        <p:nvSpPr>
          <p:cNvPr id="4" name="TextBox 3"/>
          <p:cNvSpPr txBox="1"/>
          <p:nvPr/>
        </p:nvSpPr>
        <p:spPr>
          <a:xfrm>
            <a:off x="694944" y="1563624"/>
            <a:ext cx="106070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A native iPhone experience, shared guided workflows, and local pose processing.</a:t>
            </a:r>
          </a:p>
        </p:txBody>
      </p:sp>
      <p:sp>
        <p:nvSpPr>
          <p:cNvPr id="5" name="Rounded Rectangle 4"/>
          <p:cNvSpPr/>
          <p:nvPr/>
        </p:nvSpPr>
        <p:spPr>
          <a:xfrm>
            <a:off x="685800" y="2313432"/>
            <a:ext cx="3456432" cy="2084831"/>
          </a:xfrm>
          <a:prstGeom prst="roundRect">
            <a:avLst>
              <a:gd name="adj" fmla="val 10087"/>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2587752"/>
            <a:ext cx="29718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EXPO + REACT NATIVE</a:t>
            </a:r>
          </a:p>
        </p:txBody>
      </p:sp>
      <p:sp>
        <p:nvSpPr>
          <p:cNvPr id="7" name="TextBox 6"/>
          <p:cNvSpPr txBox="1"/>
          <p:nvPr/>
        </p:nvSpPr>
        <p:spPr>
          <a:xfrm>
            <a:off x="923544" y="2953512"/>
            <a:ext cx="297180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iPhone</a:t>
            </a:r>
          </a:p>
        </p:txBody>
      </p:sp>
      <p:sp>
        <p:nvSpPr>
          <p:cNvPr id="8" name="TextBox 7"/>
          <p:cNvSpPr txBox="1"/>
          <p:nvPr/>
        </p:nvSpPr>
        <p:spPr>
          <a:xfrm>
            <a:off x="923544" y="3502152"/>
            <a:ext cx="297180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Recovery home, Coach library,</a:t>
            </a:r>
          </a:p>
          <a:p>
            <a:pPr algn="l">
              <a:lnSpc>
                <a:spcPts val="1830"/>
              </a:lnSpc>
              <a:spcBef>
                <a:spcPts val="0"/>
              </a:spcBef>
              <a:spcAft>
                <a:spcPts val="0"/>
              </a:spcAft>
              <a:defRPr sz="1500" b="0">
                <a:solidFill>
                  <a:srgbClr val="71816A"/>
                </a:solidFill>
                <a:latin typeface="DM Sans"/>
              </a:defRPr>
            </a:pPr>
            <a:r>
              <a:t>reminders, and native recording.</a:t>
            </a:r>
          </a:p>
        </p:txBody>
      </p:sp>
      <p:sp>
        <p:nvSpPr>
          <p:cNvPr id="9" name="Rounded Rectangle 8"/>
          <p:cNvSpPr/>
          <p:nvPr/>
        </p:nvSpPr>
        <p:spPr>
          <a:xfrm>
            <a:off x="4361688" y="2313432"/>
            <a:ext cx="3456432" cy="2084831"/>
          </a:xfrm>
          <a:prstGeom prst="roundRect">
            <a:avLst>
              <a:gd name="adj" fmla="val 10087"/>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1" y="2587752"/>
            <a:ext cx="29718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REACT + TYPESCRIPT</a:t>
            </a:r>
          </a:p>
        </p:txBody>
      </p:sp>
      <p:sp>
        <p:nvSpPr>
          <p:cNvPr id="11" name="TextBox 10"/>
          <p:cNvSpPr txBox="1"/>
          <p:nvPr/>
        </p:nvSpPr>
        <p:spPr>
          <a:xfrm>
            <a:off x="4599431" y="2953512"/>
            <a:ext cx="297180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Shared app</a:t>
            </a:r>
          </a:p>
        </p:txBody>
      </p:sp>
      <p:sp>
        <p:nvSpPr>
          <p:cNvPr id="12" name="TextBox 11"/>
          <p:cNvSpPr txBox="1"/>
          <p:nvPr/>
        </p:nvSpPr>
        <p:spPr>
          <a:xfrm>
            <a:off x="4599431" y="3502152"/>
            <a:ext cx="297180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Routine state, check-ins, guided</a:t>
            </a:r>
          </a:p>
          <a:p>
            <a:pPr algn="l">
              <a:lnSpc>
                <a:spcPts val="1830"/>
              </a:lnSpc>
              <a:spcBef>
                <a:spcPts val="0"/>
              </a:spcBef>
              <a:spcAft>
                <a:spcPts val="0"/>
              </a:spcAft>
              <a:defRPr sz="1500" b="0">
                <a:solidFill>
                  <a:srgbClr val="71816A"/>
                </a:solidFill>
                <a:latin typeface="DM Sans"/>
              </a:defRPr>
            </a:pPr>
            <a:r>
              <a:t>sessions, and web presentation.</a:t>
            </a:r>
          </a:p>
        </p:txBody>
      </p:sp>
      <p:sp>
        <p:nvSpPr>
          <p:cNvPr id="13" name="Rounded Rectangle 12"/>
          <p:cNvSpPr/>
          <p:nvPr/>
        </p:nvSpPr>
        <p:spPr>
          <a:xfrm>
            <a:off x="8037575" y="2313432"/>
            <a:ext cx="3456432" cy="2084831"/>
          </a:xfrm>
          <a:prstGeom prst="roundRect">
            <a:avLst>
              <a:gd name="adj" fmla="val 10087"/>
            </a:avLst>
          </a:prstGeom>
          <a:solidFill>
            <a:srgbClr val="FFFEFA"/>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2587752"/>
            <a:ext cx="297180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MEDIAPIPE / SUPABASE</a:t>
            </a:r>
          </a:p>
        </p:txBody>
      </p:sp>
      <p:sp>
        <p:nvSpPr>
          <p:cNvPr id="15" name="TextBox 14"/>
          <p:cNvSpPr txBox="1"/>
          <p:nvPr/>
        </p:nvSpPr>
        <p:spPr>
          <a:xfrm>
            <a:off x="8275319" y="2953512"/>
            <a:ext cx="297180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213E32"/>
                </a:solidFill>
                <a:latin typeface="Manrope"/>
              </a:defRPr>
            </a:pPr>
            <a:r>
              <a:t>Camera + care</a:t>
            </a:r>
          </a:p>
        </p:txBody>
      </p:sp>
      <p:sp>
        <p:nvSpPr>
          <p:cNvPr id="16" name="TextBox 15"/>
          <p:cNvSpPr txBox="1"/>
          <p:nvPr/>
        </p:nvSpPr>
        <p:spPr>
          <a:xfrm>
            <a:off x="8275319" y="3502152"/>
            <a:ext cx="297180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Local pose estimates; optional</a:t>
            </a:r>
          </a:p>
          <a:p>
            <a:pPr algn="l">
              <a:lnSpc>
                <a:spcPts val="1830"/>
              </a:lnSpc>
              <a:spcBef>
                <a:spcPts val="0"/>
              </a:spcBef>
              <a:spcAft>
                <a:spcPts val="0"/>
              </a:spcAft>
              <a:defRPr sz="1500" b="0">
                <a:solidFill>
                  <a:srgbClr val="71816A"/>
                </a:solidFill>
                <a:latin typeface="DM Sans"/>
              </a:defRPr>
            </a:pPr>
            <a:r>
              <a:t>authenticated Clinic services.</a:t>
            </a:r>
          </a:p>
        </p:txBody>
      </p:sp>
      <p:sp>
        <p:nvSpPr>
          <p:cNvPr id="17" name="Rounded Rectangle 16"/>
          <p:cNvSpPr/>
          <p:nvPr/>
        </p:nvSpPr>
        <p:spPr>
          <a:xfrm>
            <a:off x="685800" y="4709160"/>
            <a:ext cx="10808208" cy="1234440"/>
          </a:xfrm>
          <a:prstGeom prst="roundRect">
            <a:avLst>
              <a:gd name="adj" fmla="val 14074"/>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992624"/>
            <a:ext cx="2414016" cy="333756"/>
          </a:xfrm>
          <a:prstGeom prst="rect">
            <a:avLst/>
          </a:prstGeom>
          <a:noFill/>
        </p:spPr>
        <p:txBody>
          <a:bodyPr wrap="none" lIns="0" rIns="0" tIns="0" bIns="0">
            <a:spAutoFit/>
          </a:bodyPr>
          <a:lstStyle/>
          <a:p>
            <a:pPr algn="l">
              <a:lnSpc>
                <a:spcPts val="2196"/>
              </a:lnSpc>
              <a:spcBef>
                <a:spcPts val="0"/>
              </a:spcBef>
              <a:spcAft>
                <a:spcPts val="0"/>
              </a:spcAft>
              <a:defRPr sz="1800" b="1">
                <a:solidFill>
                  <a:srgbClr val="FFFFFF"/>
                </a:solidFill>
                <a:latin typeface="Manrope"/>
              </a:defRPr>
            </a:pPr>
            <a:r>
              <a:t>Camera frame</a:t>
            </a:r>
          </a:p>
        </p:txBody>
      </p:sp>
      <p:sp>
        <p:nvSpPr>
          <p:cNvPr id="19" name="TextBox 18"/>
          <p:cNvSpPr txBox="1"/>
          <p:nvPr/>
        </p:nvSpPr>
        <p:spPr>
          <a:xfrm>
            <a:off x="950976" y="5449824"/>
            <a:ext cx="2414016" cy="240791"/>
          </a:xfrm>
          <a:prstGeom prst="rect">
            <a:avLst/>
          </a:prstGeom>
          <a:noFill/>
        </p:spPr>
        <p:txBody>
          <a:bodyPr wrap="none" lIns="0" rIns="0" tIns="0" bIns="0">
            <a:spAutoFit/>
          </a:bodyPr>
          <a:lstStyle/>
          <a:p>
            <a:pPr algn="l">
              <a:lnSpc>
                <a:spcPts val="1464"/>
              </a:lnSpc>
              <a:spcBef>
                <a:spcPts val="0"/>
              </a:spcBef>
              <a:spcAft>
                <a:spcPts val="0"/>
              </a:spcAft>
              <a:defRPr sz="1200" b="0">
                <a:solidFill>
                  <a:srgbClr val="BDD1AB"/>
                </a:solidFill>
                <a:latin typeface="DM Sans"/>
              </a:defRPr>
            </a:pPr>
            <a:r>
              <a:t>Local video input</a:t>
            </a:r>
          </a:p>
        </p:txBody>
      </p:sp>
      <p:sp>
        <p:nvSpPr>
          <p:cNvPr id="20" name="TextBox 19"/>
          <p:cNvSpPr txBox="1"/>
          <p:nvPr/>
        </p:nvSpPr>
        <p:spPr>
          <a:xfrm>
            <a:off x="3639312" y="4992624"/>
            <a:ext cx="2414016" cy="333756"/>
          </a:xfrm>
          <a:prstGeom prst="rect">
            <a:avLst/>
          </a:prstGeom>
          <a:noFill/>
        </p:spPr>
        <p:txBody>
          <a:bodyPr wrap="none" lIns="0" rIns="0" tIns="0" bIns="0">
            <a:spAutoFit/>
          </a:bodyPr>
          <a:lstStyle/>
          <a:p>
            <a:pPr algn="l">
              <a:lnSpc>
                <a:spcPts val="2196"/>
              </a:lnSpc>
              <a:spcBef>
                <a:spcPts val="0"/>
              </a:spcBef>
              <a:spcAft>
                <a:spcPts val="0"/>
              </a:spcAft>
              <a:defRPr sz="1800" b="1">
                <a:solidFill>
                  <a:srgbClr val="FFFFFF"/>
                </a:solidFill>
                <a:latin typeface="Manrope"/>
              </a:defRPr>
            </a:pPr>
            <a:r>
              <a:t>Pose landmarks</a:t>
            </a:r>
          </a:p>
        </p:txBody>
      </p:sp>
      <p:sp>
        <p:nvSpPr>
          <p:cNvPr id="21" name="TextBox 20"/>
          <p:cNvSpPr txBox="1"/>
          <p:nvPr/>
        </p:nvSpPr>
        <p:spPr>
          <a:xfrm>
            <a:off x="3639312" y="5449824"/>
            <a:ext cx="2414016" cy="240791"/>
          </a:xfrm>
          <a:prstGeom prst="rect">
            <a:avLst/>
          </a:prstGeom>
          <a:noFill/>
        </p:spPr>
        <p:txBody>
          <a:bodyPr wrap="none" lIns="0" rIns="0" tIns="0" bIns="0">
            <a:spAutoFit/>
          </a:bodyPr>
          <a:lstStyle/>
          <a:p>
            <a:pPr algn="l">
              <a:lnSpc>
                <a:spcPts val="1464"/>
              </a:lnSpc>
              <a:spcBef>
                <a:spcPts val="0"/>
              </a:spcBef>
              <a:spcAft>
                <a:spcPts val="0"/>
              </a:spcAft>
              <a:defRPr sz="1200" b="0">
                <a:solidFill>
                  <a:srgbClr val="BDD1AB"/>
                </a:solidFill>
                <a:latin typeface="DM Sans"/>
              </a:defRPr>
            </a:pPr>
            <a:r>
              <a:t>Joint estimates</a:t>
            </a:r>
          </a:p>
        </p:txBody>
      </p:sp>
      <p:sp>
        <p:nvSpPr>
          <p:cNvPr id="22" name="TextBox 21"/>
          <p:cNvSpPr txBox="1"/>
          <p:nvPr/>
        </p:nvSpPr>
        <p:spPr>
          <a:xfrm>
            <a:off x="6327648" y="4992624"/>
            <a:ext cx="2414016" cy="333756"/>
          </a:xfrm>
          <a:prstGeom prst="rect">
            <a:avLst/>
          </a:prstGeom>
          <a:noFill/>
        </p:spPr>
        <p:txBody>
          <a:bodyPr wrap="none" lIns="0" rIns="0" tIns="0" bIns="0">
            <a:spAutoFit/>
          </a:bodyPr>
          <a:lstStyle/>
          <a:p>
            <a:pPr algn="l">
              <a:lnSpc>
                <a:spcPts val="2196"/>
              </a:lnSpc>
              <a:spcBef>
                <a:spcPts val="0"/>
              </a:spcBef>
              <a:spcAft>
                <a:spcPts val="0"/>
              </a:spcAft>
              <a:defRPr sz="1800" b="1">
                <a:solidFill>
                  <a:srgbClr val="FFFFFF"/>
                </a:solidFill>
                <a:latin typeface="Manrope"/>
              </a:defRPr>
            </a:pPr>
            <a:r>
              <a:t>Movement checks</a:t>
            </a:r>
          </a:p>
        </p:txBody>
      </p:sp>
      <p:sp>
        <p:nvSpPr>
          <p:cNvPr id="23" name="TextBox 22"/>
          <p:cNvSpPr txBox="1"/>
          <p:nvPr/>
        </p:nvSpPr>
        <p:spPr>
          <a:xfrm>
            <a:off x="6327648" y="5449824"/>
            <a:ext cx="2414016" cy="240791"/>
          </a:xfrm>
          <a:prstGeom prst="rect">
            <a:avLst/>
          </a:prstGeom>
          <a:noFill/>
        </p:spPr>
        <p:txBody>
          <a:bodyPr wrap="none" lIns="0" rIns="0" tIns="0" bIns="0">
            <a:spAutoFit/>
          </a:bodyPr>
          <a:lstStyle/>
          <a:p>
            <a:pPr algn="l">
              <a:lnSpc>
                <a:spcPts val="1464"/>
              </a:lnSpc>
              <a:spcBef>
                <a:spcPts val="0"/>
              </a:spcBef>
              <a:spcAft>
                <a:spcPts val="0"/>
              </a:spcAft>
              <a:defRPr sz="1200" b="0">
                <a:solidFill>
                  <a:srgbClr val="BDD1AB"/>
                </a:solidFill>
                <a:latin typeface="DM Sans"/>
              </a:defRPr>
            </a:pPr>
            <a:r>
              <a:t>Visibility + timing</a:t>
            </a:r>
          </a:p>
        </p:txBody>
      </p:sp>
      <p:sp>
        <p:nvSpPr>
          <p:cNvPr id="24" name="TextBox 23"/>
          <p:cNvSpPr txBox="1"/>
          <p:nvPr/>
        </p:nvSpPr>
        <p:spPr>
          <a:xfrm>
            <a:off x="9015984" y="4992624"/>
            <a:ext cx="2414016" cy="333756"/>
          </a:xfrm>
          <a:prstGeom prst="rect">
            <a:avLst/>
          </a:prstGeom>
          <a:noFill/>
        </p:spPr>
        <p:txBody>
          <a:bodyPr wrap="none" lIns="0" rIns="0" tIns="0" bIns="0">
            <a:spAutoFit/>
          </a:bodyPr>
          <a:lstStyle/>
          <a:p>
            <a:pPr algn="l">
              <a:lnSpc>
                <a:spcPts val="2196"/>
              </a:lnSpc>
              <a:spcBef>
                <a:spcPts val="0"/>
              </a:spcBef>
              <a:spcAft>
                <a:spcPts val="0"/>
              </a:spcAft>
              <a:defRPr sz="1800" b="1">
                <a:solidFill>
                  <a:srgbClr val="FFFFFF"/>
                </a:solidFill>
                <a:latin typeface="Manrope"/>
              </a:defRPr>
            </a:pPr>
            <a:r>
              <a:t>Counter or cue</a:t>
            </a:r>
          </a:p>
        </p:txBody>
      </p:sp>
      <p:sp>
        <p:nvSpPr>
          <p:cNvPr id="25" name="TextBox 24"/>
          <p:cNvSpPr txBox="1"/>
          <p:nvPr/>
        </p:nvSpPr>
        <p:spPr>
          <a:xfrm>
            <a:off x="9015984" y="5449824"/>
            <a:ext cx="2414016" cy="240791"/>
          </a:xfrm>
          <a:prstGeom prst="rect">
            <a:avLst/>
          </a:prstGeom>
          <a:noFill/>
        </p:spPr>
        <p:txBody>
          <a:bodyPr wrap="none" lIns="0" rIns="0" tIns="0" bIns="0">
            <a:spAutoFit/>
          </a:bodyPr>
          <a:lstStyle/>
          <a:p>
            <a:pPr algn="l">
              <a:lnSpc>
                <a:spcPts val="1464"/>
              </a:lnSpc>
              <a:spcBef>
                <a:spcPts val="0"/>
              </a:spcBef>
              <a:spcAft>
                <a:spcPts val="0"/>
              </a:spcAft>
              <a:defRPr sz="1200" b="0">
                <a:solidFill>
                  <a:srgbClr val="BDD1AB"/>
                </a:solidFill>
                <a:latin typeface="DM Sans"/>
              </a:defRPr>
            </a:pPr>
            <a:r>
              <a:t>Feedback in the view</a:t>
            </a:r>
          </a:p>
        </p:txBody>
      </p:sp>
      <p:sp>
        <p:nvSpPr>
          <p:cNvPr id="26" name="Rectangle 25"/>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8" name="TextBox 27"/>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CONGRESSIONAL APP CHALLENGE / NC-04</a:t>
            </a:r>
          </a:p>
        </p:txBody>
      </p:sp>
      <p:sp>
        <p:nvSpPr>
          <p:cNvPr id="29" name="TextBox 28"/>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VIDEO DEMONSTRATION</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See Rebound in action.</a:t>
            </a:r>
          </a:p>
        </p:txBody>
      </p:sp>
      <p:sp>
        <p:nvSpPr>
          <p:cNvPr id="4" name="DEMO VIDEO PLACEHOLDER — replace with your 16:9 recording"/>
          <p:cNvSpPr/>
          <p:nvPr/>
        </p:nvSpPr>
        <p:spPr>
          <a:xfrm>
            <a:off x="694944" y="1581912"/>
            <a:ext cx="8138160" cy="4577715"/>
          </a:xfrm>
          <a:prstGeom prst="roundRect">
            <a:avLst>
              <a:gd name="adj" fmla="val 2397"/>
            </a:avLst>
          </a:prstGeom>
          <a:solidFill>
            <a:srgbClr val="142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279392" y="3054096"/>
            <a:ext cx="914400" cy="914400"/>
          </a:xfrm>
          <a:prstGeom prst="ellipse">
            <a:avLst/>
          </a:prstGeom>
          <a:solidFill>
            <a:srgbClr val="D9E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rot="5400000">
            <a:off x="4645152" y="3328416"/>
            <a:ext cx="256032" cy="329184"/>
          </a:xfrm>
          <a:prstGeom prst="triangle">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56816" y="4261104"/>
            <a:ext cx="5614416" cy="333756"/>
          </a:xfrm>
          <a:prstGeom prst="rect">
            <a:avLst/>
          </a:prstGeom>
          <a:noFill/>
        </p:spPr>
        <p:txBody>
          <a:bodyPr wrap="none" lIns="0" rIns="0" tIns="0" bIns="0">
            <a:spAutoFit/>
          </a:bodyPr>
          <a:lstStyle/>
          <a:p>
            <a:pPr algn="ctr">
              <a:lnSpc>
                <a:spcPts val="2196"/>
              </a:lnSpc>
              <a:spcBef>
                <a:spcPts val="0"/>
              </a:spcBef>
              <a:spcAft>
                <a:spcPts val="0"/>
              </a:spcAft>
              <a:defRPr sz="1800" b="1">
                <a:solidFill>
                  <a:srgbClr val="FFFFFF"/>
                </a:solidFill>
                <a:latin typeface="Manrope"/>
              </a:defRPr>
            </a:pPr>
            <a:r>
              <a:t>ADD YOUR DEMO VIDEO</a:t>
            </a:r>
          </a:p>
        </p:txBody>
      </p:sp>
      <p:sp>
        <p:nvSpPr>
          <p:cNvPr id="8" name="TextBox 7"/>
          <p:cNvSpPr txBox="1"/>
          <p:nvPr/>
        </p:nvSpPr>
        <p:spPr>
          <a:xfrm>
            <a:off x="1956816" y="4709160"/>
            <a:ext cx="5614416" cy="256285"/>
          </a:xfrm>
          <a:prstGeom prst="rect">
            <a:avLst/>
          </a:prstGeom>
          <a:noFill/>
        </p:spPr>
        <p:txBody>
          <a:bodyPr wrap="none" lIns="0" rIns="0" tIns="0" bIns="0">
            <a:spAutoFit/>
          </a:bodyPr>
          <a:lstStyle/>
          <a:p>
            <a:pPr algn="ctr">
              <a:lnSpc>
                <a:spcPts val="1586"/>
              </a:lnSpc>
              <a:spcBef>
                <a:spcPts val="0"/>
              </a:spcBef>
              <a:spcAft>
                <a:spcPts val="0"/>
              </a:spcAft>
              <a:defRPr sz="1300" b="0">
                <a:solidFill>
                  <a:srgbClr val="B4C7A6"/>
                </a:solidFill>
                <a:latin typeface="DM Sans"/>
              </a:defRPr>
            </a:pPr>
            <a:r>
              <a:t>16:9 video placeholder</a:t>
            </a:r>
          </a:p>
        </p:txBody>
      </p:sp>
      <p:sp>
        <p:nvSpPr>
          <p:cNvPr id="9" name="TextBox 8"/>
          <p:cNvSpPr txBox="1"/>
          <p:nvPr/>
        </p:nvSpPr>
        <p:spPr>
          <a:xfrm>
            <a:off x="9171432" y="1865376"/>
            <a:ext cx="237744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SHOW THE LOOP</a:t>
            </a:r>
          </a:p>
        </p:txBody>
      </p:sp>
      <p:sp>
        <p:nvSpPr>
          <p:cNvPr id="10" name="TextBox 9"/>
          <p:cNvSpPr txBox="1"/>
          <p:nvPr/>
        </p:nvSpPr>
        <p:spPr>
          <a:xfrm>
            <a:off x="9171432" y="2377440"/>
            <a:ext cx="4572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01</a:t>
            </a:r>
          </a:p>
        </p:txBody>
      </p:sp>
      <p:sp>
        <p:nvSpPr>
          <p:cNvPr id="11" name="TextBox 10"/>
          <p:cNvSpPr txBox="1"/>
          <p:nvPr/>
        </p:nvSpPr>
        <p:spPr>
          <a:xfrm>
            <a:off x="9701784" y="2322576"/>
            <a:ext cx="178308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213E32"/>
                </a:solidFill>
                <a:latin typeface="Manrope"/>
              </a:defRPr>
            </a:pPr>
            <a:r>
              <a:t>Plan</a:t>
            </a:r>
          </a:p>
        </p:txBody>
      </p:sp>
      <p:sp>
        <p:nvSpPr>
          <p:cNvPr id="12" name="TextBox 11"/>
          <p:cNvSpPr txBox="1"/>
          <p:nvPr/>
        </p:nvSpPr>
        <p:spPr>
          <a:xfrm>
            <a:off x="9189720" y="2779776"/>
            <a:ext cx="2276856" cy="488695"/>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DM Sans"/>
              </a:defRPr>
            </a:pPr>
            <a:r>
              <a:t>Show the weekly goal and</a:t>
            </a:r>
          </a:p>
          <a:p>
            <a:pPr algn="l">
              <a:lnSpc>
                <a:spcPts val="1707"/>
              </a:lnSpc>
              <a:spcBef>
                <a:spcPts val="0"/>
              </a:spcBef>
              <a:spcAft>
                <a:spcPts val="0"/>
              </a:spcAft>
              <a:defRPr sz="1400" b="0">
                <a:solidFill>
                  <a:srgbClr val="71816A"/>
                </a:solidFill>
                <a:latin typeface="DM Sans"/>
              </a:defRPr>
            </a:pPr>
            <a:r>
              <a:t>next routine.</a:t>
            </a:r>
          </a:p>
        </p:txBody>
      </p:sp>
      <p:sp>
        <p:nvSpPr>
          <p:cNvPr id="13" name="TextBox 12"/>
          <p:cNvSpPr txBox="1"/>
          <p:nvPr/>
        </p:nvSpPr>
        <p:spPr>
          <a:xfrm>
            <a:off x="9171432" y="3584448"/>
            <a:ext cx="4572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02</a:t>
            </a:r>
          </a:p>
        </p:txBody>
      </p:sp>
      <p:sp>
        <p:nvSpPr>
          <p:cNvPr id="14" name="TextBox 13"/>
          <p:cNvSpPr txBox="1"/>
          <p:nvPr/>
        </p:nvSpPr>
        <p:spPr>
          <a:xfrm>
            <a:off x="9701784" y="3529584"/>
            <a:ext cx="178308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213E32"/>
                </a:solidFill>
                <a:latin typeface="Manrope"/>
              </a:defRPr>
            </a:pPr>
            <a:r>
              <a:t>Practice</a:t>
            </a:r>
          </a:p>
        </p:txBody>
      </p:sp>
      <p:sp>
        <p:nvSpPr>
          <p:cNvPr id="15" name="TextBox 14"/>
          <p:cNvSpPr txBox="1"/>
          <p:nvPr/>
        </p:nvSpPr>
        <p:spPr>
          <a:xfrm>
            <a:off x="9189720" y="3986784"/>
            <a:ext cx="2276856" cy="488695"/>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DM Sans"/>
              </a:defRPr>
            </a:pPr>
            <a:r>
              <a:t>Open a cleared guide and</a:t>
            </a:r>
          </a:p>
          <a:p>
            <a:pPr algn="l">
              <a:lnSpc>
                <a:spcPts val="1707"/>
              </a:lnSpc>
              <a:spcBef>
                <a:spcPts val="0"/>
              </a:spcBef>
              <a:spcAft>
                <a:spcPts val="0"/>
              </a:spcAft>
              <a:defRPr sz="1400" b="0">
                <a:solidFill>
                  <a:srgbClr val="71816A"/>
                </a:solidFill>
                <a:latin typeface="DM Sans"/>
              </a:defRPr>
            </a:pPr>
            <a:r>
              <a:t>the camera coach.</a:t>
            </a:r>
          </a:p>
        </p:txBody>
      </p:sp>
      <p:sp>
        <p:nvSpPr>
          <p:cNvPr id="16" name="TextBox 15"/>
          <p:cNvSpPr txBox="1"/>
          <p:nvPr/>
        </p:nvSpPr>
        <p:spPr>
          <a:xfrm>
            <a:off x="9171432" y="4791456"/>
            <a:ext cx="4572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03</a:t>
            </a:r>
          </a:p>
        </p:txBody>
      </p:sp>
      <p:sp>
        <p:nvSpPr>
          <p:cNvPr id="17" name="TextBox 16"/>
          <p:cNvSpPr txBox="1"/>
          <p:nvPr/>
        </p:nvSpPr>
        <p:spPr>
          <a:xfrm>
            <a:off x="9701784" y="4736592"/>
            <a:ext cx="178308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213E32"/>
                </a:solidFill>
                <a:latin typeface="Manrope"/>
              </a:defRPr>
            </a:pPr>
            <a:r>
              <a:t>Reflect</a:t>
            </a:r>
          </a:p>
        </p:txBody>
      </p:sp>
      <p:sp>
        <p:nvSpPr>
          <p:cNvPr id="18" name="TextBox 17"/>
          <p:cNvSpPr txBox="1"/>
          <p:nvPr/>
        </p:nvSpPr>
        <p:spPr>
          <a:xfrm>
            <a:off x="9189720" y="5193792"/>
            <a:ext cx="2276856" cy="488695"/>
          </a:xfrm>
          <a:prstGeom prst="rect">
            <a:avLst/>
          </a:prstGeom>
          <a:noFill/>
        </p:spPr>
        <p:txBody>
          <a:bodyPr wrap="none" lIns="0" rIns="0" tIns="0" bIns="0">
            <a:spAutoFit/>
          </a:bodyPr>
          <a:lstStyle/>
          <a:p>
            <a:pPr algn="l">
              <a:lnSpc>
                <a:spcPts val="1707"/>
              </a:lnSpc>
              <a:spcBef>
                <a:spcPts val="0"/>
              </a:spcBef>
              <a:spcAft>
                <a:spcPts val="0"/>
              </a:spcAft>
              <a:defRPr sz="1400" b="0">
                <a:solidFill>
                  <a:srgbClr val="71816A"/>
                </a:solidFill>
                <a:latin typeface="DM Sans"/>
              </a:defRPr>
            </a:pPr>
            <a:r>
              <a:t>Save a session and show</a:t>
            </a:r>
          </a:p>
          <a:p>
            <a:pPr algn="l">
              <a:lnSpc>
                <a:spcPts val="1707"/>
              </a:lnSpc>
              <a:spcBef>
                <a:spcPts val="0"/>
              </a:spcBef>
              <a:spcAft>
                <a:spcPts val="0"/>
              </a:spcAft>
              <a:defRPr sz="1400" b="0">
                <a:solidFill>
                  <a:srgbClr val="71816A"/>
                </a:solidFill>
                <a:latin typeface="DM Sans"/>
              </a:defRPr>
            </a:pPr>
            <a:r>
              <a:t>the updated record.</a:t>
            </a:r>
          </a:p>
        </p:txBody>
      </p:sp>
      <p:sp>
        <p:nvSpPr>
          <p:cNvPr id="19" name="Rectangle 18"/>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1" name="TextBox 20"/>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Suggested demo: 60–90 seconds · replace this placeholder with your own recording in Canva</a:t>
            </a:r>
          </a:p>
        </p:txBody>
      </p:sp>
      <p:sp>
        <p:nvSpPr>
          <p:cNvPr id="22" name="TextBox 21"/>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NEXT STEPS</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A strong prototype. A clear next step.</a:t>
            </a:r>
          </a:p>
        </p:txBody>
      </p:sp>
      <p:sp>
        <p:nvSpPr>
          <p:cNvPr id="4" name="TextBox 3"/>
          <p:cNvSpPr txBox="1"/>
          <p:nvPr/>
        </p:nvSpPr>
        <p:spPr>
          <a:xfrm>
            <a:off x="694944" y="1563624"/>
            <a:ext cx="10607040" cy="302767"/>
          </a:xfrm>
          <a:prstGeom prst="rect">
            <a:avLst/>
          </a:prstGeom>
          <a:noFill/>
        </p:spPr>
        <p:txBody>
          <a:bodyPr wrap="none" lIns="0" rIns="0" tIns="0" bIns="0">
            <a:spAutoFit/>
          </a:bodyPr>
          <a:lstStyle/>
          <a:p>
            <a:pPr algn="l">
              <a:lnSpc>
                <a:spcPts val="1952"/>
              </a:lnSpc>
              <a:spcBef>
                <a:spcPts val="0"/>
              </a:spcBef>
              <a:spcAft>
                <a:spcPts val="0"/>
              </a:spcAft>
              <a:defRPr sz="1600" b="0">
                <a:solidFill>
                  <a:srgbClr val="71816A"/>
                </a:solidFill>
                <a:latin typeface="DM Sans"/>
              </a:defRPr>
            </a:pPr>
            <a:r>
              <a:t>Keep improving usefulness while measuring what the system can actually do.</a:t>
            </a:r>
          </a:p>
        </p:txBody>
      </p:sp>
      <p:sp>
        <p:nvSpPr>
          <p:cNvPr id="5" name="Rounded Rectangle 4"/>
          <p:cNvSpPr/>
          <p:nvPr/>
        </p:nvSpPr>
        <p:spPr>
          <a:xfrm>
            <a:off x="685800" y="2331720"/>
            <a:ext cx="3657600" cy="3566160"/>
          </a:xfrm>
          <a:prstGeom prst="roundRect">
            <a:avLst>
              <a:gd name="adj" fmla="val 6153"/>
            </a:avLst>
          </a:prstGeom>
          <a:solidFill>
            <a:srgbClr val="213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79192"/>
            <a:ext cx="306324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BDD1AB"/>
                </a:solidFill>
                <a:latin typeface="DM Sans"/>
              </a:defRPr>
            </a:pPr>
            <a:r>
              <a:t>ENGINEERING CHECKS</a:t>
            </a:r>
          </a:p>
        </p:txBody>
      </p:sp>
      <p:sp>
        <p:nvSpPr>
          <p:cNvPr id="7" name="TextBox 6"/>
          <p:cNvSpPr txBox="1"/>
          <p:nvPr/>
        </p:nvSpPr>
        <p:spPr>
          <a:xfrm>
            <a:off x="932688" y="3200400"/>
            <a:ext cx="2834640" cy="1232408"/>
          </a:xfrm>
          <a:prstGeom prst="rect">
            <a:avLst/>
          </a:prstGeom>
          <a:noFill/>
        </p:spPr>
        <p:txBody>
          <a:bodyPr wrap="none" lIns="0" rIns="0" tIns="0" bIns="0">
            <a:spAutoFit/>
          </a:bodyPr>
          <a:lstStyle/>
          <a:p>
            <a:pPr algn="l">
              <a:lnSpc>
                <a:spcPts val="9272"/>
              </a:lnSpc>
              <a:spcBef>
                <a:spcPts val="0"/>
              </a:spcBef>
              <a:spcAft>
                <a:spcPts val="0"/>
              </a:spcAft>
              <a:defRPr sz="7600" b="1">
                <a:solidFill>
                  <a:srgbClr val="D9EDB4"/>
                </a:solidFill>
                <a:latin typeface="Manrope"/>
              </a:defRPr>
            </a:pPr>
            <a:r>
              <a:t>73</a:t>
            </a:r>
          </a:p>
        </p:txBody>
      </p:sp>
      <p:sp>
        <p:nvSpPr>
          <p:cNvPr id="8" name="TextBox 7"/>
          <p:cNvSpPr txBox="1"/>
          <p:nvPr/>
        </p:nvSpPr>
        <p:spPr>
          <a:xfrm>
            <a:off x="987552" y="4407408"/>
            <a:ext cx="2944368" cy="364743"/>
          </a:xfrm>
          <a:prstGeom prst="rect">
            <a:avLst/>
          </a:prstGeom>
          <a:noFill/>
        </p:spPr>
        <p:txBody>
          <a:bodyPr wrap="none" lIns="0" rIns="0" tIns="0" bIns="0">
            <a:spAutoFit/>
          </a:bodyPr>
          <a:lstStyle/>
          <a:p>
            <a:pPr algn="l">
              <a:lnSpc>
                <a:spcPts val="2440"/>
              </a:lnSpc>
              <a:spcBef>
                <a:spcPts val="0"/>
              </a:spcBef>
              <a:spcAft>
                <a:spcPts val="0"/>
              </a:spcAft>
              <a:defRPr sz="2000" b="0">
                <a:solidFill>
                  <a:srgbClr val="FFFFFF"/>
                </a:solidFill>
                <a:latin typeface="DM Sans"/>
              </a:defRPr>
            </a:pPr>
            <a:r>
              <a:t>browser checks passed</a:t>
            </a:r>
          </a:p>
        </p:txBody>
      </p:sp>
      <p:sp>
        <p:nvSpPr>
          <p:cNvPr id="9" name="TextBox 8"/>
          <p:cNvSpPr txBox="1"/>
          <p:nvPr/>
        </p:nvSpPr>
        <p:spPr>
          <a:xfrm>
            <a:off x="987552" y="5129784"/>
            <a:ext cx="2971800" cy="457708"/>
          </a:xfrm>
          <a:prstGeom prst="rect">
            <a:avLst/>
          </a:prstGeom>
          <a:noFill/>
        </p:spPr>
        <p:txBody>
          <a:bodyPr wrap="none" lIns="0" rIns="0" tIns="0" bIns="0">
            <a:spAutoFit/>
          </a:bodyPr>
          <a:lstStyle/>
          <a:p>
            <a:pPr algn="l">
              <a:lnSpc>
                <a:spcPts val="1586"/>
              </a:lnSpc>
              <a:spcBef>
                <a:spcPts val="0"/>
              </a:spcBef>
              <a:spcAft>
                <a:spcPts val="0"/>
              </a:spcAft>
              <a:defRPr sz="1300" b="0">
                <a:solidFill>
                  <a:srgbClr val="C0D0B2"/>
                </a:solidFill>
                <a:latin typeface="DM Sans"/>
              </a:defRPr>
            </a:pPr>
            <a:r>
              <a:t>Plus web build, native type-check,</a:t>
            </a:r>
          </a:p>
          <a:p>
            <a:pPr algn="l">
              <a:lnSpc>
                <a:spcPts val="1586"/>
              </a:lnSpc>
              <a:spcBef>
                <a:spcPts val="0"/>
              </a:spcBef>
              <a:spcAft>
                <a:spcPts val="0"/>
              </a:spcAft>
              <a:defRPr sz="1300" b="0">
                <a:solidFill>
                  <a:srgbClr val="C0D0B2"/>
                </a:solidFill>
                <a:latin typeface="DM Sans"/>
              </a:defRPr>
            </a:pPr>
            <a:r>
              <a:t>and iOS JavaScript export.</a:t>
            </a:r>
          </a:p>
        </p:txBody>
      </p:sp>
      <p:sp>
        <p:nvSpPr>
          <p:cNvPr id="10" name="TextBox 9"/>
          <p:cNvSpPr txBox="1"/>
          <p:nvPr/>
        </p:nvSpPr>
        <p:spPr>
          <a:xfrm>
            <a:off x="4800600" y="2432304"/>
            <a:ext cx="41148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01</a:t>
            </a:r>
          </a:p>
        </p:txBody>
      </p:sp>
      <p:sp>
        <p:nvSpPr>
          <p:cNvPr id="11" name="TextBox 10"/>
          <p:cNvSpPr txBox="1"/>
          <p:nvPr/>
        </p:nvSpPr>
        <p:spPr>
          <a:xfrm>
            <a:off x="5404104" y="2377440"/>
            <a:ext cx="585216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Validate on people and iPhones</a:t>
            </a:r>
          </a:p>
        </p:txBody>
      </p:sp>
      <p:sp>
        <p:nvSpPr>
          <p:cNvPr id="12" name="TextBox 11"/>
          <p:cNvSpPr txBox="1"/>
          <p:nvPr/>
        </p:nvSpPr>
        <p:spPr>
          <a:xfrm>
            <a:off x="5404104" y="2825496"/>
            <a:ext cx="5532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Measure rep errors and specific form errors against qualified</a:t>
            </a:r>
          </a:p>
          <a:p>
            <a:pPr algn="l">
              <a:lnSpc>
                <a:spcPts val="1830"/>
              </a:lnSpc>
              <a:spcBef>
                <a:spcPts val="0"/>
              </a:spcBef>
              <a:spcAft>
                <a:spcPts val="0"/>
              </a:spcAft>
              <a:defRPr sz="1500" b="0">
                <a:solidFill>
                  <a:srgbClr val="71816A"/>
                </a:solidFill>
                <a:latin typeface="DM Sans"/>
              </a:defRPr>
            </a:pPr>
            <a:r>
              <a:t>observers.</a:t>
            </a:r>
          </a:p>
        </p:txBody>
      </p:sp>
      <p:sp>
        <p:nvSpPr>
          <p:cNvPr id="13" name="TextBox 12"/>
          <p:cNvSpPr txBox="1"/>
          <p:nvPr/>
        </p:nvSpPr>
        <p:spPr>
          <a:xfrm>
            <a:off x="4800600" y="3639312"/>
            <a:ext cx="41148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02</a:t>
            </a:r>
          </a:p>
        </p:txBody>
      </p:sp>
      <p:sp>
        <p:nvSpPr>
          <p:cNvPr id="14" name="TextBox 13"/>
          <p:cNvSpPr txBox="1"/>
          <p:nvPr/>
        </p:nvSpPr>
        <p:spPr>
          <a:xfrm>
            <a:off x="5404104" y="3584448"/>
            <a:ext cx="585216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Evaluate exercise-specific video data</a:t>
            </a:r>
          </a:p>
        </p:txBody>
      </p:sp>
      <p:sp>
        <p:nvSpPr>
          <p:cNvPr id="15" name="TextBox 14"/>
          <p:cNvSpPr txBox="1"/>
          <p:nvPr/>
        </p:nvSpPr>
        <p:spPr>
          <a:xfrm>
            <a:off x="5404104" y="4032504"/>
            <a:ext cx="5532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Resolve data rights, labels, and band-assisted movement</a:t>
            </a:r>
          </a:p>
          <a:p>
            <a:pPr algn="l">
              <a:lnSpc>
                <a:spcPts val="1830"/>
              </a:lnSpc>
              <a:spcBef>
                <a:spcPts val="0"/>
              </a:spcBef>
              <a:spcAft>
                <a:spcPts val="0"/>
              </a:spcAft>
              <a:defRPr sz="1500" b="0">
                <a:solidFill>
                  <a:srgbClr val="71816A"/>
                </a:solidFill>
                <a:latin typeface="DM Sans"/>
              </a:defRPr>
            </a:pPr>
            <a:r>
              <a:t>coverage.</a:t>
            </a:r>
          </a:p>
        </p:txBody>
      </p:sp>
      <p:sp>
        <p:nvSpPr>
          <p:cNvPr id="16" name="TextBox 15"/>
          <p:cNvSpPr txBox="1"/>
          <p:nvPr/>
        </p:nvSpPr>
        <p:spPr>
          <a:xfrm>
            <a:off x="4800600" y="4846320"/>
            <a:ext cx="41148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71816A"/>
                </a:solidFill>
                <a:latin typeface="DM Sans"/>
              </a:defRPr>
            </a:pPr>
            <a:r>
              <a:t>03</a:t>
            </a:r>
          </a:p>
        </p:txBody>
      </p:sp>
      <p:sp>
        <p:nvSpPr>
          <p:cNvPr id="17" name="TextBox 16"/>
          <p:cNvSpPr txBox="1"/>
          <p:nvPr/>
        </p:nvSpPr>
        <p:spPr>
          <a:xfrm>
            <a:off x="5404104" y="4791456"/>
            <a:ext cx="5852160" cy="380238"/>
          </a:xfrm>
          <a:prstGeom prst="rect">
            <a:avLst/>
          </a:prstGeom>
          <a:noFill/>
        </p:spPr>
        <p:txBody>
          <a:bodyPr wrap="none" lIns="0" rIns="0" tIns="0" bIns="0">
            <a:spAutoFit/>
          </a:bodyPr>
          <a:lstStyle/>
          <a:p>
            <a:pPr algn="l">
              <a:lnSpc>
                <a:spcPts val="2562"/>
              </a:lnSpc>
              <a:spcBef>
                <a:spcPts val="0"/>
              </a:spcBef>
              <a:spcAft>
                <a:spcPts val="0"/>
              </a:spcAft>
              <a:defRPr sz="2100" b="1">
                <a:solidFill>
                  <a:srgbClr val="213E32"/>
                </a:solidFill>
                <a:latin typeface="Manrope"/>
              </a:defRPr>
            </a:pPr>
            <a:r>
              <a:t>Connect a dependable care workflow</a:t>
            </a:r>
          </a:p>
        </p:txBody>
      </p:sp>
      <p:sp>
        <p:nvSpPr>
          <p:cNvPr id="18" name="TextBox 17"/>
          <p:cNvSpPr txBox="1"/>
          <p:nvPr/>
        </p:nvSpPr>
        <p:spPr>
          <a:xfrm>
            <a:off x="5404104" y="5239512"/>
            <a:ext cx="5532120" cy="519684"/>
          </a:xfrm>
          <a:prstGeom prst="rect">
            <a:avLst/>
          </a:prstGeom>
          <a:noFill/>
        </p:spPr>
        <p:txBody>
          <a:bodyPr wrap="none" lIns="0" rIns="0" tIns="0" bIns="0">
            <a:spAutoFit/>
          </a:bodyPr>
          <a:lstStyle/>
          <a:p>
            <a:pPr algn="l">
              <a:lnSpc>
                <a:spcPts val="1830"/>
              </a:lnSpc>
              <a:spcBef>
                <a:spcPts val="0"/>
              </a:spcBef>
              <a:spcAft>
                <a:spcPts val="0"/>
              </a:spcAft>
              <a:defRPr sz="1500" b="0">
                <a:solidFill>
                  <a:srgbClr val="71816A"/>
                </a:solidFill>
                <a:latin typeface="DM Sans"/>
              </a:defRPr>
            </a:pPr>
            <a:r>
              <a:t>Configure Clinic services, stable HTTPS hosting, and signed</a:t>
            </a:r>
          </a:p>
          <a:p>
            <a:pPr algn="l">
              <a:lnSpc>
                <a:spcPts val="1830"/>
              </a:lnSpc>
              <a:spcBef>
                <a:spcPts val="0"/>
              </a:spcBef>
              <a:spcAft>
                <a:spcPts val="0"/>
              </a:spcAft>
              <a:defRPr sz="1500" b="0">
                <a:solidFill>
                  <a:srgbClr val="71816A"/>
                </a:solidFill>
                <a:latin typeface="DM Sans"/>
              </a:defRPr>
            </a:pPr>
            <a:r>
              <a:t>native builds.</a:t>
            </a:r>
          </a:p>
        </p:txBody>
      </p:sp>
      <p:sp>
        <p:nvSpPr>
          <p:cNvPr id="19" name="Rectangle 18"/>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21" name="TextBox 20"/>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Engineering checks are not clinical validation; no human-video accuracy percentage is established</a:t>
            </a:r>
          </a:p>
        </p:txBody>
      </p:sp>
      <p:sp>
        <p:nvSpPr>
          <p:cNvPr id="22" name="TextBox 21"/>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3E32"/>
        </a:solidFill>
        <a:effectLst/>
      </p:bgPr>
    </p:bg>
    <p:spTree>
      <p:nvGrpSpPr>
        <p:cNvPr id="1" name=""/>
        <p:cNvGrpSpPr/>
        <p:nvPr/>
      </p:nvGrpSpPr>
      <p:grpSpPr/>
      <p:pic>
        <p:nvPicPr>
          <p:cNvPr id="2" name="Picture 1" descr="rebound-icon.png"/>
          <p:cNvPicPr>
            <a:picLocks noChangeAspect="1"/>
          </p:cNvPicPr>
          <p:nvPr/>
        </p:nvPicPr>
        <p:blipFill>
          <a:blip r:embed="rId2"/>
          <a:stretch>
            <a:fillRect/>
          </a:stretch>
        </p:blipFill>
        <p:spPr>
          <a:xfrm>
            <a:off x="740664" y="621792"/>
            <a:ext cx="621792" cy="621792"/>
          </a:xfrm>
          <a:prstGeom prst="rect">
            <a:avLst/>
          </a:prstGeom>
        </p:spPr>
      </p:pic>
      <p:sp>
        <p:nvSpPr>
          <p:cNvPr id="3" name="TextBox 2"/>
          <p:cNvSpPr txBox="1"/>
          <p:nvPr/>
        </p:nvSpPr>
        <p:spPr>
          <a:xfrm>
            <a:off x="1554480" y="640080"/>
            <a:ext cx="5852160" cy="597154"/>
          </a:xfrm>
          <a:prstGeom prst="rect">
            <a:avLst/>
          </a:prstGeom>
          <a:noFill/>
        </p:spPr>
        <p:txBody>
          <a:bodyPr wrap="none" lIns="0" rIns="0" tIns="0" bIns="0">
            <a:spAutoFit/>
          </a:bodyPr>
          <a:lstStyle/>
          <a:p>
            <a:pPr algn="l">
              <a:lnSpc>
                <a:spcPts val="4270"/>
              </a:lnSpc>
              <a:spcBef>
                <a:spcPts val="0"/>
              </a:spcBef>
              <a:spcAft>
                <a:spcPts val="0"/>
              </a:spcAft>
              <a:defRPr sz="3500" b="1">
                <a:solidFill>
                  <a:srgbClr val="FFFFFF"/>
                </a:solidFill>
                <a:latin typeface="Manrope"/>
              </a:defRPr>
            </a:pPr>
            <a:r>
              <a:t>rebound.</a:t>
            </a:r>
          </a:p>
        </p:txBody>
      </p:sp>
      <p:sp>
        <p:nvSpPr>
          <p:cNvPr id="4" name="TextBox 3"/>
          <p:cNvSpPr txBox="1"/>
          <p:nvPr/>
        </p:nvSpPr>
        <p:spPr>
          <a:xfrm>
            <a:off x="694944" y="1847088"/>
            <a:ext cx="10881360" cy="1600200"/>
          </a:xfrm>
          <a:prstGeom prst="rect">
            <a:avLst/>
          </a:prstGeom>
          <a:noFill/>
        </p:spPr>
        <p:txBody>
          <a:bodyPr wrap="none" lIns="0" rIns="0" tIns="0" bIns="0">
            <a:spAutoFit/>
          </a:bodyPr>
          <a:lstStyle/>
          <a:p>
            <a:pPr algn="l">
              <a:lnSpc>
                <a:spcPts val="6084"/>
              </a:lnSpc>
              <a:spcBef>
                <a:spcPts val="0"/>
              </a:spcBef>
              <a:spcAft>
                <a:spcPts val="0"/>
              </a:spcAft>
              <a:defRPr sz="5200" b="1">
                <a:solidFill>
                  <a:srgbClr val="FFFFFF"/>
                </a:solidFill>
                <a:latin typeface="Manrope"/>
              </a:defRPr>
            </a:pPr>
            <a:r>
              <a:t>A clearer plan.</a:t>
            </a:r>
          </a:p>
          <a:p>
            <a:pPr algn="l">
              <a:lnSpc>
                <a:spcPts val="6084"/>
              </a:lnSpc>
              <a:spcBef>
                <a:spcPts val="0"/>
              </a:spcBef>
              <a:spcAft>
                <a:spcPts val="0"/>
              </a:spcAft>
              <a:defRPr sz="5200" b="1">
                <a:solidFill>
                  <a:srgbClr val="FFFFFF"/>
                </a:solidFill>
                <a:latin typeface="Manrope"/>
              </a:defRPr>
            </a:pPr>
            <a:r>
              <a:t>A steadier routine.</a:t>
            </a:r>
          </a:p>
        </p:txBody>
      </p:sp>
      <p:sp>
        <p:nvSpPr>
          <p:cNvPr id="5" name="TextBox 4"/>
          <p:cNvSpPr txBox="1"/>
          <p:nvPr/>
        </p:nvSpPr>
        <p:spPr>
          <a:xfrm>
            <a:off x="777240" y="3877056"/>
            <a:ext cx="9052560" cy="814324"/>
          </a:xfrm>
          <a:prstGeom prst="rect">
            <a:avLst/>
          </a:prstGeom>
          <a:noFill/>
        </p:spPr>
        <p:txBody>
          <a:bodyPr wrap="none" lIns="0" rIns="0" tIns="0" bIns="0">
            <a:spAutoFit/>
          </a:bodyPr>
          <a:lstStyle/>
          <a:p>
            <a:pPr algn="l">
              <a:lnSpc>
                <a:spcPts val="2990"/>
              </a:lnSpc>
              <a:spcBef>
                <a:spcPts val="0"/>
              </a:spcBef>
              <a:spcAft>
                <a:spcPts val="0"/>
              </a:spcAft>
              <a:defRPr sz="2300" b="0">
                <a:solidFill>
                  <a:srgbClr val="C8D8BA"/>
                </a:solidFill>
                <a:latin typeface="DM Sans"/>
              </a:defRPr>
            </a:pPr>
            <a:r>
              <a:t>Helping people understand the next step</a:t>
            </a:r>
          </a:p>
          <a:p>
            <a:pPr algn="l">
              <a:lnSpc>
                <a:spcPts val="2990"/>
              </a:lnSpc>
              <a:spcBef>
                <a:spcPts val="0"/>
              </a:spcBef>
              <a:spcAft>
                <a:spcPts val="0"/>
              </a:spcAft>
              <a:defRPr sz="2300" b="0">
                <a:solidFill>
                  <a:srgbClr val="C8D8BA"/>
                </a:solidFill>
                <a:latin typeface="DM Sans"/>
              </a:defRPr>
            </a:pPr>
            <a:r>
              <a:t>and make room for the routine.</a:t>
            </a:r>
          </a:p>
        </p:txBody>
      </p:sp>
      <p:sp>
        <p:nvSpPr>
          <p:cNvPr id="6" name="TextBox 5"/>
          <p:cNvSpPr txBox="1"/>
          <p:nvPr/>
        </p:nvSpPr>
        <p:spPr>
          <a:xfrm>
            <a:off x="795528" y="5358384"/>
            <a:ext cx="9326880"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FFFFFF"/>
                </a:solidFill>
                <a:latin typeface="DM Sans"/>
              </a:defRPr>
            </a:pPr>
            <a:r>
              <a:t>Ritvik Saidapur · Siddharth Senthilkumar</a:t>
            </a:r>
          </a:p>
        </p:txBody>
      </p:sp>
      <p:sp>
        <p:nvSpPr>
          <p:cNvPr id="7" name="TextBox 6"/>
          <p:cNvSpPr txBox="1"/>
          <p:nvPr/>
        </p:nvSpPr>
        <p:spPr>
          <a:xfrm>
            <a:off x="804672" y="5833872"/>
            <a:ext cx="9418320" cy="256285"/>
          </a:xfrm>
          <a:prstGeom prst="rect">
            <a:avLst/>
          </a:prstGeom>
          <a:noFill/>
        </p:spPr>
        <p:txBody>
          <a:bodyPr wrap="none" lIns="0" rIns="0" tIns="0" bIns="0">
            <a:spAutoFit/>
          </a:bodyPr>
          <a:lstStyle/>
          <a:p>
            <a:pPr algn="l">
              <a:lnSpc>
                <a:spcPts val="1586"/>
              </a:lnSpc>
              <a:spcBef>
                <a:spcPts val="0"/>
              </a:spcBef>
              <a:spcAft>
                <a:spcPts val="0"/>
              </a:spcAft>
              <a:defRPr sz="1300" b="0">
                <a:solidFill>
                  <a:srgbClr val="B9CCA9"/>
                </a:solidFill>
                <a:latin typeface="DM Sans"/>
              </a:defRPr>
            </a:pPr>
            <a:r>
              <a:t>NC-04 / Congressional App Challenge</a:t>
            </a:r>
          </a:p>
        </p:txBody>
      </p:sp>
      <p:sp>
        <p:nvSpPr>
          <p:cNvPr id="8" name="Rounded Rectangle 7"/>
          <p:cNvSpPr/>
          <p:nvPr/>
        </p:nvSpPr>
        <p:spPr>
          <a:xfrm>
            <a:off x="9646920" y="5230368"/>
            <a:ext cx="1554480" cy="1042415"/>
          </a:xfrm>
          <a:prstGeom prst="roundRect">
            <a:avLst>
              <a:gd name="adj" fmla="val 1052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C-logo.png"/>
          <p:cNvPicPr>
            <a:picLocks noChangeAspect="1"/>
          </p:cNvPicPr>
          <p:nvPr/>
        </p:nvPicPr>
        <p:blipFill>
          <a:blip r:embed="rId3"/>
          <a:stretch>
            <a:fillRect/>
          </a:stretch>
        </p:blipFill>
        <p:spPr>
          <a:xfrm>
            <a:off x="9793224" y="5294376"/>
            <a:ext cx="1261872" cy="899769"/>
          </a:xfrm>
          <a:prstGeom prst="rect">
            <a:avLst/>
          </a:prstGeom>
        </p:spPr>
      </p:pic>
      <p:sp>
        <p:nvSpPr>
          <p:cNvPr id="10" name="Rectangle 9"/>
          <p:cNvSpPr/>
          <p:nvPr/>
        </p:nvSpPr>
        <p:spPr>
          <a:xfrm>
            <a:off x="658368" y="6391656"/>
            <a:ext cx="10872216" cy="914"/>
          </a:xfrm>
          <a:prstGeom prst="rect">
            <a:avLst/>
          </a:prstGeom>
          <a:solidFill>
            <a:srgbClr val="3A5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D9EDB4"/>
                </a:solidFill>
                <a:latin typeface="Manrope"/>
              </a:defRPr>
            </a:pPr>
            <a:r>
              <a:t>rebound.</a:t>
            </a:r>
          </a:p>
        </p:txBody>
      </p:sp>
      <p:sp>
        <p:nvSpPr>
          <p:cNvPr id="12" name="TextBox 11"/>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AEC1A0"/>
                </a:solidFill>
                <a:latin typeface="DM Sans"/>
              </a:defRPr>
            </a:pPr>
            <a:r>
              <a:t>CONGRESSIONAL APP CHALLENGE / NC-04</a:t>
            </a:r>
          </a:p>
        </p:txBody>
      </p:sp>
      <p:sp>
        <p:nvSpPr>
          <p:cNvPr id="13" name="TextBox 12"/>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AEC1A0"/>
                </a:solidFill>
                <a:latin typeface="Manrope"/>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85800" y="438912"/>
            <a:ext cx="10698480" cy="209803"/>
          </a:xfrm>
          <a:prstGeom prst="rect">
            <a:avLst/>
          </a:prstGeom>
          <a:noFill/>
        </p:spPr>
        <p:txBody>
          <a:bodyPr wrap="none" lIns="0" rIns="0" tIns="0" bIns="0">
            <a:spAutoFit/>
          </a:bodyPr>
          <a:lstStyle/>
          <a:p>
            <a:pPr algn="l">
              <a:lnSpc>
                <a:spcPts val="1220"/>
              </a:lnSpc>
              <a:spcBef>
                <a:spcPts val="0"/>
              </a:spcBef>
              <a:spcAft>
                <a:spcPts val="0"/>
              </a:spcAft>
              <a:defRPr sz="1000" b="1">
                <a:solidFill>
                  <a:srgbClr val="71816A"/>
                </a:solidFill>
                <a:latin typeface="DM Sans"/>
              </a:defRPr>
            </a:pPr>
            <a:r>
              <a:t>APPENDIX</a:t>
            </a:r>
          </a:p>
        </p:txBody>
      </p:sp>
      <p:sp>
        <p:nvSpPr>
          <p:cNvPr id="3" name="TextBox 2"/>
          <p:cNvSpPr txBox="1"/>
          <p:nvPr/>
        </p:nvSpPr>
        <p:spPr>
          <a:xfrm>
            <a:off x="658368" y="841248"/>
            <a:ext cx="10881360" cy="600202"/>
          </a:xfrm>
          <a:prstGeom prst="rect">
            <a:avLst/>
          </a:prstGeom>
          <a:noFill/>
        </p:spPr>
        <p:txBody>
          <a:bodyPr wrap="none" lIns="0" rIns="0" tIns="0" bIns="0">
            <a:spAutoFit/>
          </a:bodyPr>
          <a:lstStyle/>
          <a:p>
            <a:pPr algn="l">
              <a:lnSpc>
                <a:spcPts val="4294"/>
              </a:lnSpc>
              <a:spcBef>
                <a:spcPts val="0"/>
              </a:spcBef>
              <a:spcAft>
                <a:spcPts val="0"/>
              </a:spcAft>
              <a:defRPr sz="3800" b="1">
                <a:solidFill>
                  <a:srgbClr val="213E32"/>
                </a:solidFill>
                <a:latin typeface="Manrope"/>
              </a:defRPr>
            </a:pPr>
            <a:r>
              <a:t>Sources, identity, and tool credits.</a:t>
            </a:r>
          </a:p>
        </p:txBody>
      </p:sp>
      <p:sp>
        <p:nvSpPr>
          <p:cNvPr id="4" name="Rounded Rectangle 3"/>
          <p:cNvSpPr/>
          <p:nvPr/>
        </p:nvSpPr>
        <p:spPr>
          <a:xfrm>
            <a:off x="704088" y="1874519"/>
            <a:ext cx="2560320" cy="2039112"/>
          </a:xfrm>
          <a:prstGeom prst="roundRect">
            <a:avLst>
              <a:gd name="adj" fmla="val 7174"/>
            </a:avLst>
          </a:prstGeom>
          <a:solidFill>
            <a:srgbClr val="FFFFFF"/>
          </a:solidFill>
          <a:ln w="12700">
            <a:solidFill>
              <a:srgbClr val="DB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C-logo.png"/>
          <p:cNvPicPr>
            <a:picLocks noChangeAspect="1"/>
          </p:cNvPicPr>
          <p:nvPr/>
        </p:nvPicPr>
        <p:blipFill>
          <a:blip r:embed="rId2"/>
          <a:stretch>
            <a:fillRect/>
          </a:stretch>
        </p:blipFill>
        <p:spPr>
          <a:xfrm>
            <a:off x="896112" y="2002536"/>
            <a:ext cx="2176272" cy="1554480"/>
          </a:xfrm>
          <a:prstGeom prst="rect">
            <a:avLst/>
          </a:prstGeom>
        </p:spPr>
      </p:pic>
      <p:sp>
        <p:nvSpPr>
          <p:cNvPr id="6" name="TextBox 5"/>
          <p:cNvSpPr txBox="1"/>
          <p:nvPr/>
        </p:nvSpPr>
        <p:spPr>
          <a:xfrm>
            <a:off x="740664" y="4206240"/>
            <a:ext cx="2807208" cy="287274"/>
          </a:xfrm>
          <a:prstGeom prst="rect">
            <a:avLst/>
          </a:prstGeom>
          <a:noFill/>
        </p:spPr>
        <p:txBody>
          <a:bodyPr wrap="none" lIns="0" rIns="0" tIns="0" bIns="0">
            <a:spAutoFit/>
          </a:bodyPr>
          <a:lstStyle/>
          <a:p>
            <a:pPr algn="l">
              <a:lnSpc>
                <a:spcPts val="1830"/>
              </a:lnSpc>
              <a:spcBef>
                <a:spcPts val="0"/>
              </a:spcBef>
              <a:spcAft>
                <a:spcPts val="0"/>
              </a:spcAft>
              <a:defRPr sz="1500" b="1">
                <a:solidFill>
                  <a:srgbClr val="213E32"/>
                </a:solidFill>
                <a:latin typeface="Manrope"/>
              </a:defRPr>
            </a:pPr>
            <a:r>
              <a:t>Congressional App Challenge</a:t>
            </a:r>
          </a:p>
        </p:txBody>
      </p:sp>
      <p:sp>
        <p:nvSpPr>
          <p:cNvPr id="7" name="TextBox 6"/>
          <p:cNvSpPr txBox="1"/>
          <p:nvPr/>
        </p:nvSpPr>
        <p:spPr>
          <a:xfrm>
            <a:off x="749808" y="4745736"/>
            <a:ext cx="2743200" cy="748284"/>
          </a:xfrm>
          <a:prstGeom prst="rect">
            <a:avLst/>
          </a:prstGeom>
          <a:noFill/>
        </p:spPr>
        <p:txBody>
          <a:bodyPr wrap="none" lIns="0" rIns="0" tIns="0" bIns="0">
            <a:spAutoFit/>
          </a:bodyPr>
          <a:lstStyle/>
          <a:p>
            <a:pPr algn="l">
              <a:lnSpc>
                <a:spcPts val="1820"/>
              </a:lnSpc>
              <a:spcBef>
                <a:spcPts val="0"/>
              </a:spcBef>
              <a:spcAft>
                <a:spcPts val="0"/>
              </a:spcAft>
              <a:defRPr sz="1300" b="0">
                <a:solidFill>
                  <a:srgbClr val="71816A"/>
                </a:solidFill>
                <a:latin typeface="DM Sans"/>
              </a:defRPr>
            </a:pPr>
            <a:r>
              <a:t>Official CAC repository asset.</a:t>
            </a:r>
          </a:p>
          <a:p>
            <a:pPr algn="l">
              <a:lnSpc>
                <a:spcPts val="1820"/>
              </a:lnSpc>
              <a:spcBef>
                <a:spcPts val="0"/>
              </a:spcBef>
              <a:spcAft>
                <a:spcPts val="0"/>
              </a:spcAft>
              <a:defRPr sz="1300" b="0">
                <a:solidFill>
                  <a:srgbClr val="71816A"/>
                </a:solidFill>
                <a:latin typeface="DM Sans"/>
              </a:defRPr>
            </a:pPr>
            <a:r>
              <a:t>Event identification; no</a:t>
            </a:r>
          </a:p>
          <a:p>
            <a:pPr algn="l">
              <a:lnSpc>
                <a:spcPts val="1820"/>
              </a:lnSpc>
              <a:spcBef>
                <a:spcPts val="0"/>
              </a:spcBef>
              <a:spcAft>
                <a:spcPts val="0"/>
              </a:spcAft>
              <a:defRPr sz="1300" b="0">
                <a:solidFill>
                  <a:srgbClr val="71816A"/>
                </a:solidFill>
                <a:latin typeface="DM Sans"/>
              </a:defRPr>
            </a:pPr>
            <a:r>
              <a:t>endorsement implied.</a:t>
            </a:r>
          </a:p>
        </p:txBody>
      </p:sp>
      <p:sp>
        <p:nvSpPr>
          <p:cNvPr id="8" name="TextBox 7"/>
          <p:cNvSpPr txBox="1"/>
          <p:nvPr/>
        </p:nvSpPr>
        <p:spPr>
          <a:xfrm>
            <a:off x="3803904" y="1901952"/>
            <a:ext cx="7534656"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213E32"/>
                </a:solidFill>
                <a:latin typeface="Manrope"/>
              </a:defRPr>
            </a:pPr>
            <a:r>
              <a:t>Rebound identity + app evidence</a:t>
            </a:r>
          </a:p>
        </p:txBody>
      </p:sp>
      <p:sp>
        <p:nvSpPr>
          <p:cNvPr id="9" name="TextBox 8"/>
          <p:cNvSpPr txBox="1"/>
          <p:nvPr/>
        </p:nvSpPr>
        <p:spPr>
          <a:xfrm>
            <a:off x="3813048" y="2267712"/>
            <a:ext cx="7424927" cy="264541"/>
          </a:xfrm>
          <a:prstGeom prst="rect">
            <a:avLst/>
          </a:prstGeom>
          <a:noFill/>
        </p:spPr>
        <p:txBody>
          <a:bodyPr wrap="none" lIns="0" rIns="0" tIns="0" bIns="0">
            <a:spAutoFit/>
          </a:bodyPr>
          <a:lstStyle/>
          <a:p>
            <a:pPr algn="l">
              <a:lnSpc>
                <a:spcPts val="1651"/>
              </a:lnSpc>
              <a:spcBef>
                <a:spcPts val="0"/>
              </a:spcBef>
              <a:spcAft>
                <a:spcPts val="0"/>
              </a:spcAft>
              <a:defRPr sz="1300" b="0">
                <a:solidFill>
                  <a:srgbClr val="71816A"/>
                </a:solidFill>
                <a:latin typeface="DM Sans"/>
              </a:defRPr>
            </a:pPr>
            <a:r>
              <a:t>Current app icon, native components, web UI, and repository branch rebound-mvp.</a:t>
            </a:r>
          </a:p>
        </p:txBody>
      </p:sp>
      <p:sp>
        <p:nvSpPr>
          <p:cNvPr id="10" name="TextBox 9"/>
          <p:cNvSpPr txBox="1"/>
          <p:nvPr/>
        </p:nvSpPr>
        <p:spPr>
          <a:xfrm>
            <a:off x="3803904" y="2926080"/>
            <a:ext cx="7534656"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213E32"/>
                </a:solidFill>
                <a:latin typeface="Manrope"/>
              </a:defRPr>
            </a:pPr>
            <a:r>
              <a:t>Movement and pose references</a:t>
            </a:r>
          </a:p>
        </p:txBody>
      </p:sp>
      <p:sp>
        <p:nvSpPr>
          <p:cNvPr id="11" name="TextBox 10"/>
          <p:cNvSpPr txBox="1"/>
          <p:nvPr/>
        </p:nvSpPr>
        <p:spPr>
          <a:xfrm>
            <a:off x="3813048" y="3291840"/>
            <a:ext cx="7424927" cy="264541"/>
          </a:xfrm>
          <a:prstGeom prst="rect">
            <a:avLst/>
          </a:prstGeom>
          <a:noFill/>
        </p:spPr>
        <p:txBody>
          <a:bodyPr wrap="none" lIns="0" rIns="0" tIns="0" bIns="0">
            <a:spAutoFit/>
          </a:bodyPr>
          <a:lstStyle/>
          <a:p>
            <a:pPr algn="l">
              <a:lnSpc>
                <a:spcPts val="1651"/>
              </a:lnSpc>
              <a:spcBef>
                <a:spcPts val="0"/>
              </a:spcBef>
              <a:spcAft>
                <a:spcPts val="0"/>
              </a:spcAft>
              <a:defRPr sz="1300" b="0">
                <a:solidFill>
                  <a:srgbClr val="71816A"/>
                </a:solidFill>
                <a:latin typeface="DM Sans"/>
              </a:defRPr>
            </a:pPr>
            <a:r>
              <a:t>NHS sitting / strength / flexibility / balance guidance; Google MediaPipe Pose documentation.</a:t>
            </a:r>
          </a:p>
        </p:txBody>
      </p:sp>
      <p:sp>
        <p:nvSpPr>
          <p:cNvPr id="12" name="TextBox 11"/>
          <p:cNvSpPr txBox="1"/>
          <p:nvPr/>
        </p:nvSpPr>
        <p:spPr>
          <a:xfrm>
            <a:off x="3803904" y="3950208"/>
            <a:ext cx="7534656"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213E32"/>
                </a:solidFill>
                <a:latin typeface="Manrope"/>
              </a:defRPr>
            </a:pPr>
            <a:r>
              <a:t>Logo + typography</a:t>
            </a:r>
          </a:p>
        </p:txBody>
      </p:sp>
      <p:sp>
        <p:nvSpPr>
          <p:cNvPr id="13" name="TextBox 12"/>
          <p:cNvSpPr txBox="1"/>
          <p:nvPr/>
        </p:nvSpPr>
        <p:spPr>
          <a:xfrm>
            <a:off x="3813048" y="4315968"/>
            <a:ext cx="7424927" cy="474218"/>
          </a:xfrm>
          <a:prstGeom prst="rect">
            <a:avLst/>
          </a:prstGeom>
          <a:noFill/>
        </p:spPr>
        <p:txBody>
          <a:bodyPr wrap="none" lIns="0" rIns="0" tIns="0" bIns="0">
            <a:spAutoFit/>
          </a:bodyPr>
          <a:lstStyle/>
          <a:p>
            <a:pPr algn="l">
              <a:lnSpc>
                <a:spcPts val="1651"/>
              </a:lnSpc>
              <a:spcBef>
                <a:spcPts val="0"/>
              </a:spcBef>
              <a:spcAft>
                <a:spcPts val="0"/>
              </a:spcAft>
              <a:defRPr sz="1300" b="0">
                <a:solidFill>
                  <a:srgbClr val="71816A"/>
                </a:solidFill>
                <a:latin typeface="DM Sans"/>
              </a:defRPr>
            </a:pPr>
            <a:r>
              <a:t>CAC: congressionalappchallenge/houseofcode2024 · frontend/src/assets/CAC-logo.svg.</a:t>
            </a:r>
          </a:p>
          <a:p>
            <a:pPr algn="l">
              <a:lnSpc>
                <a:spcPts val="1651"/>
              </a:lnSpc>
              <a:spcBef>
                <a:spcPts val="0"/>
              </a:spcBef>
              <a:spcAft>
                <a:spcPts val="0"/>
              </a:spcAft>
              <a:defRPr sz="1300" b="0">
                <a:solidFill>
                  <a:srgbClr val="71816A"/>
                </a:solidFill>
                <a:latin typeface="DM Sans"/>
              </a:defRPr>
            </a:pPr>
            <a:r>
              <a:t>Manrope and DM Sans: SIL Open Font License.</a:t>
            </a:r>
          </a:p>
        </p:txBody>
      </p:sp>
      <p:sp>
        <p:nvSpPr>
          <p:cNvPr id="14" name="TextBox 13"/>
          <p:cNvSpPr txBox="1"/>
          <p:nvPr/>
        </p:nvSpPr>
        <p:spPr>
          <a:xfrm>
            <a:off x="3803904" y="4974336"/>
            <a:ext cx="7534656"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213E32"/>
                </a:solidFill>
                <a:latin typeface="Manrope"/>
              </a:defRPr>
            </a:pPr>
            <a:r>
              <a:t>Tools + status</a:t>
            </a:r>
          </a:p>
        </p:txBody>
      </p:sp>
      <p:sp>
        <p:nvSpPr>
          <p:cNvPr id="15" name="TextBox 14"/>
          <p:cNvSpPr txBox="1"/>
          <p:nvPr/>
        </p:nvSpPr>
        <p:spPr>
          <a:xfrm>
            <a:off x="3813048" y="5340096"/>
            <a:ext cx="7424927" cy="474218"/>
          </a:xfrm>
          <a:prstGeom prst="rect">
            <a:avLst/>
          </a:prstGeom>
          <a:noFill/>
        </p:spPr>
        <p:txBody>
          <a:bodyPr wrap="none" lIns="0" rIns="0" tIns="0" bIns="0">
            <a:spAutoFit/>
          </a:bodyPr>
          <a:lstStyle/>
          <a:p>
            <a:pPr algn="l">
              <a:lnSpc>
                <a:spcPts val="1651"/>
              </a:lnSpc>
              <a:spcBef>
                <a:spcPts val="0"/>
              </a:spcBef>
              <a:spcAft>
                <a:spcPts val="0"/>
              </a:spcAft>
              <a:defRPr sz="1300" b="0">
                <a:solidFill>
                  <a:srgbClr val="71816A"/>
                </a:solidFill>
                <a:latin typeface="DM Sans"/>
              </a:defRPr>
            </a:pPr>
            <a:r>
              <a:t>React, TypeScript, Expo, React Native, MediaPipe, optional Supabase. OpenAI Codex assisted</a:t>
            </a:r>
          </a:p>
          <a:p>
            <a:pPr algn="l">
              <a:lnSpc>
                <a:spcPts val="1651"/>
              </a:lnSpc>
              <a:spcBef>
                <a:spcPts val="0"/>
              </a:spcBef>
              <a:spcAft>
                <a:spcPts val="0"/>
              </a:spcAft>
              <a:defRPr sz="1300" b="0">
                <a:solidFill>
                  <a:srgbClr val="71816A"/>
                </a:solidFill>
                <a:latin typeface="DM Sans"/>
              </a:defRPr>
            </a:pPr>
            <a:r>
              <a:t>implementation, debugging, and this presentation.</a:t>
            </a:r>
          </a:p>
        </p:txBody>
      </p:sp>
      <p:sp>
        <p:nvSpPr>
          <p:cNvPr id="16" name="TextBox 15"/>
          <p:cNvSpPr txBox="1"/>
          <p:nvPr/>
        </p:nvSpPr>
        <p:spPr>
          <a:xfrm>
            <a:off x="758952" y="5925312"/>
            <a:ext cx="10789920" cy="225298"/>
          </a:xfrm>
          <a:prstGeom prst="rect">
            <a:avLst/>
          </a:prstGeom>
          <a:noFill/>
        </p:spPr>
        <p:txBody>
          <a:bodyPr wrap="none" lIns="0" rIns="0" tIns="0" bIns="0">
            <a:spAutoFit/>
          </a:bodyPr>
          <a:lstStyle/>
          <a:p>
            <a:pPr algn="l">
              <a:lnSpc>
                <a:spcPts val="1342"/>
              </a:lnSpc>
              <a:spcBef>
                <a:spcPts val="0"/>
              </a:spcBef>
              <a:spcAft>
                <a:spcPts val="0"/>
              </a:spcAft>
              <a:defRPr sz="1100" b="0">
                <a:solidFill>
                  <a:srgbClr val="71816A"/>
                </a:solidFill>
                <a:latin typeface="DM Sans"/>
              </a:defRPr>
            </a:pPr>
            <a:r>
              <a:t>Screens use example data. Camera slide is a UI test preview, not patient footage. Full source links and import instructions accompany the deck.</a:t>
            </a:r>
          </a:p>
        </p:txBody>
      </p:sp>
      <p:sp>
        <p:nvSpPr>
          <p:cNvPr id="17" name="Rectangle 16"/>
          <p:cNvSpPr/>
          <p:nvPr/>
        </p:nvSpPr>
        <p:spPr>
          <a:xfrm>
            <a:off x="658368" y="6391656"/>
            <a:ext cx="10872216" cy="914"/>
          </a:xfrm>
          <a:prstGeom prst="rect">
            <a:avLst/>
          </a:prstGeom>
          <a:solidFill>
            <a:srgbClr val="DB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83096"/>
            <a:ext cx="128016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213E32"/>
                </a:solidFill>
                <a:latin typeface="Manrope"/>
              </a:defRPr>
            </a:pPr>
            <a:r>
              <a:t>rebound.</a:t>
            </a:r>
          </a:p>
        </p:txBody>
      </p:sp>
      <p:sp>
        <p:nvSpPr>
          <p:cNvPr id="19" name="TextBox 18"/>
          <p:cNvSpPr txBox="1"/>
          <p:nvPr/>
        </p:nvSpPr>
        <p:spPr>
          <a:xfrm>
            <a:off x="1920240" y="6505956"/>
            <a:ext cx="8595360" cy="178815"/>
          </a:xfrm>
          <a:prstGeom prst="rect">
            <a:avLst/>
          </a:prstGeom>
          <a:noFill/>
        </p:spPr>
        <p:txBody>
          <a:bodyPr wrap="none" lIns="0" rIns="0" tIns="0" bIns="0">
            <a:spAutoFit/>
          </a:bodyPr>
          <a:lstStyle/>
          <a:p>
            <a:pPr algn="l">
              <a:lnSpc>
                <a:spcPts val="976"/>
              </a:lnSpc>
              <a:spcBef>
                <a:spcPts val="0"/>
              </a:spcBef>
              <a:spcAft>
                <a:spcPts val="0"/>
              </a:spcAft>
              <a:defRPr sz="800" b="0">
                <a:solidFill>
                  <a:srgbClr val="71816A"/>
                </a:solidFill>
                <a:latin typeface="DM Sans"/>
              </a:defRPr>
            </a:pPr>
            <a:r>
              <a:t>CONGRESSIONAL APP CHALLENGE / NC-04</a:t>
            </a:r>
          </a:p>
        </p:txBody>
      </p:sp>
      <p:sp>
        <p:nvSpPr>
          <p:cNvPr id="20" name="TextBox 19"/>
          <p:cNvSpPr txBox="1"/>
          <p:nvPr/>
        </p:nvSpPr>
        <p:spPr>
          <a:xfrm>
            <a:off x="10972800" y="6473952"/>
            <a:ext cx="4572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71816A"/>
                </a:solidFill>
                <a:latin typeface="Manrope"/>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Rebound | Congressional App Challenge | NC-04</dc:title>
  <dc:subject>Recovery companion prototype presentation</dc:subject>
  <dc:creator>Ritvik Saidapur; Siddharth Senthilkumar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